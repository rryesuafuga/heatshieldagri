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5486400" y="-914400"/>
            <a:ext cx="5486400" cy="5486400"/>
          </a:xfrm>
          <a:prstGeom prst="ellipse">
            <a:avLst/>
          </a:prstGeom>
          <a:solidFill>
            <a:srgbClr val="9D0208">
              <a:alpha val="20000"/>
            </a:srgbClr>
          </a:solidFill>
          <a:ln/>
        </p:spPr>
        <p:txBody>
          <a:bodyPr/>
          <a:p/>
        </p:txBody>
      </p:sp>
      <p:sp>
        <p:nvSpPr>
          <p:cNvPr id="3" name="Shape 1"/>
          <p:cNvSpPr/>
          <p:nvPr/>
        </p:nvSpPr>
        <p:spPr>
          <a:xfrm>
            <a:off x="6400800" y="0"/>
            <a:ext cx="4572000" cy="4572000"/>
          </a:xfrm>
          <a:prstGeom prst="ellipse">
            <a:avLst/>
          </a:prstGeom>
          <a:solidFill>
            <a:srgbClr val="E85D04">
              <a:alpha val="30000"/>
            </a:srgbClr>
          </a:solidFill>
          <a:ln/>
        </p:spPr>
        <p:txBody>
          <a:bodyPr/>
          <a:p/>
        </p:txBody>
      </p:sp>
      <p:sp>
        <p:nvSpPr>
          <p:cNvPr id="4" name="Shape 2"/>
          <p:cNvSpPr/>
          <p:nvPr/>
        </p:nvSpPr>
        <p:spPr>
          <a:xfrm>
            <a:off x="6858000" y="457200"/>
            <a:ext cx="3657600" cy="3657600"/>
          </a:xfrm>
          <a:prstGeom prst="ellipse">
            <a:avLst/>
          </a:prstGeom>
          <a:solidFill>
            <a:srgbClr val="B85042">
              <a:alpha val="40000"/>
            </a:srgbClr>
          </a:solidFill>
          <a:ln/>
        </p:spPr>
        <p:txBody>
          <a:bodyPr/>
          <a:p/>
        </p:txBody>
      </p:sp>
      <p:sp>
        <p:nvSpPr>
          <p:cNvPr id="5" name="Text 3"/>
          <p:cNvSpPr/>
          <p:nvPr/>
        </p:nvSpPr>
        <p:spPr>
          <a:xfrm>
            <a:off x="457200" y="1371600"/>
            <a:ext cx="5486400" cy="914400"/>
          </a:xfrm>
          <a:prstGeom prst="rect">
            <a:avLst/>
          </a:prstGeom>
          <a:noFill/>
          <a:ln/>
        </p:spPr>
        <p:txBody>
          <a:bodyPr wrap="square"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HeatShield Agri</a:t>
            </a:r>
            <a:endParaRPr lang="en-US" sz="4400" dirty="0"/>
          </a:p>
        </p:txBody>
      </p:sp>
      <p:sp>
        <p:nvSpPr>
          <p:cNvPr id="6" name="Text 4"/>
          <p:cNvSpPr/>
          <p:nvPr/>
        </p:nvSpPr>
        <p:spPr>
          <a:xfrm>
            <a:off x="457200" y="2377440"/>
            <a:ext cx="5486400" cy="914400"/>
          </a:xfrm>
          <a:prstGeom prst="rect">
            <a:avLst/>
          </a:prstGeom>
          <a:noFill/>
          <a:ln/>
        </p:spPr>
        <p:txBody>
          <a:bodyPr wrap="square" rtlCol="0" anchor="ctr"/>
          <a:lstStyle/>
          <a:p>
            <a:pPr indent="0" marL="0">
              <a:lnSpc>
                <a:spcPts val="2800"/>
              </a:lnSpc>
              <a:buNone/>
            </a:pPr>
            <a:r>
              <a:rPr lang="en-US" sz="2000" dirty="0">
                <a:solidFill>
                  <a:srgbClr val="E7E8D1"/>
                </a:solidFill>
                <a:latin typeface="Calibri" pitchFamily="34" charset="0"/>
                <a:ea typeface="Calibri" pitchFamily="34" charset="-122"/>
                <a:cs typeface="Calibri" pitchFamily="34" charset="-120"/>
              </a:rPr>
              <a:t>AI-Powered Heat Stress Early Warning System</a:t>
            </a:r>
            <a:endParaRPr lang="en-US" sz="2000" dirty="0"/>
          </a:p>
          <a:p>
            <a:pPr indent="0" marL="0">
              <a:lnSpc>
                <a:spcPts val="2800"/>
              </a:lnSpc>
              <a:buNone/>
            </a:pPr>
            <a:r>
              <a:rPr lang="en-US" sz="2000" dirty="0">
                <a:solidFill>
                  <a:srgbClr val="E7E8D1"/>
                </a:solidFill>
                <a:latin typeface="Calibri" pitchFamily="34" charset="0"/>
                <a:ea typeface="Calibri" pitchFamily="34" charset="-122"/>
                <a:cs typeface="Calibri" pitchFamily="34" charset="-120"/>
              </a:rPr>
              <a:t>for Uganda's Agricultural Workers</a:t>
            </a:r>
            <a:endParaRPr lang="en-US" sz="2000" dirty="0"/>
          </a:p>
        </p:txBody>
      </p:sp>
      <p:sp>
        <p:nvSpPr>
          <p:cNvPr id="7" name="Shape 5"/>
          <p:cNvSpPr/>
          <p:nvPr/>
        </p:nvSpPr>
        <p:spPr>
          <a:xfrm>
            <a:off x="0" y="4023360"/>
            <a:ext cx="9144000" cy="1120140"/>
          </a:xfrm>
          <a:prstGeom prst="rect">
            <a:avLst/>
          </a:prstGeom>
          <a:solidFill>
            <a:srgbClr val="B85042">
              <a:alpha val="80000"/>
            </a:srgbClr>
          </a:solidFill>
          <a:ln/>
        </p:spPr>
        <p:txBody>
          <a:bodyPr/>
          <a:p/>
        </p:txBody>
      </p:sp>
      <p:sp>
        <p:nvSpPr>
          <p:cNvPr id="8" name="Text 6"/>
          <p:cNvSpPr/>
          <p:nvPr/>
        </p:nvSpPr>
        <p:spPr>
          <a:xfrm>
            <a:off x="457200" y="4160520"/>
            <a:ext cx="1828800" cy="64008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12.4M</a:t>
            </a:r>
            <a:endParaRPr lang="en-US" sz="3600" dirty="0"/>
          </a:p>
        </p:txBody>
      </p:sp>
      <p:sp>
        <p:nvSpPr>
          <p:cNvPr id="9" name="Text 7"/>
          <p:cNvSpPr/>
          <p:nvPr/>
        </p:nvSpPr>
        <p:spPr>
          <a:xfrm>
            <a:off x="457200" y="4663440"/>
            <a:ext cx="2286000" cy="457200"/>
          </a:xfrm>
          <a:prstGeom prst="rect">
            <a:avLst/>
          </a:prstGeom>
          <a:noFill/>
          <a:ln/>
        </p:spPr>
        <p:txBody>
          <a:bodyPr wrap="square" rtlCol="0" anchor="ctr"/>
          <a:lstStyle/>
          <a:p>
            <a:pPr indent="0" marL="0">
              <a:buNone/>
            </a:pPr>
            <a:r>
              <a:rPr lang="en-US" sz="1100" dirty="0">
                <a:solidFill>
                  <a:srgbClr val="E7E8D1"/>
                </a:solidFill>
                <a:latin typeface="Calibri" pitchFamily="34" charset="0"/>
                <a:ea typeface="Calibri" pitchFamily="34" charset="-122"/>
                <a:cs typeface="Calibri" pitchFamily="34" charset="-120"/>
              </a:rPr>
              <a:t>Agricultural workers</a:t>
            </a:r>
            <a:endParaRPr lang="en-US" sz="1100" dirty="0"/>
          </a:p>
          <a:p>
            <a:pPr indent="0" marL="0">
              <a:buNone/>
            </a:pPr>
            <a:r>
              <a:rPr lang="en-US" sz="1100" dirty="0">
                <a:solidFill>
                  <a:srgbClr val="E7E8D1"/>
                </a:solidFill>
                <a:latin typeface="Calibri" pitchFamily="34" charset="0"/>
                <a:ea typeface="Calibri" pitchFamily="34" charset="-122"/>
                <a:cs typeface="Calibri" pitchFamily="34" charset="-120"/>
              </a:rPr>
              <a:t>at risk in Uganda</a:t>
            </a:r>
            <a:endParaRPr lang="en-US" sz="1100" dirty="0"/>
          </a:p>
        </p:txBody>
      </p:sp>
      <p:sp>
        <p:nvSpPr>
          <p:cNvPr id="10" name="Text 8"/>
          <p:cNvSpPr/>
          <p:nvPr/>
        </p:nvSpPr>
        <p:spPr>
          <a:xfrm>
            <a:off x="2926080" y="4160520"/>
            <a:ext cx="1828800" cy="64008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35x</a:t>
            </a:r>
            <a:endParaRPr lang="en-US" sz="3600" dirty="0"/>
          </a:p>
        </p:txBody>
      </p:sp>
      <p:sp>
        <p:nvSpPr>
          <p:cNvPr id="11" name="Text 9"/>
          <p:cNvSpPr/>
          <p:nvPr/>
        </p:nvSpPr>
        <p:spPr>
          <a:xfrm>
            <a:off x="2926080" y="4663440"/>
            <a:ext cx="2286000" cy="457200"/>
          </a:xfrm>
          <a:prstGeom prst="rect">
            <a:avLst/>
          </a:prstGeom>
          <a:noFill/>
          <a:ln/>
        </p:spPr>
        <p:txBody>
          <a:bodyPr wrap="square" rtlCol="0" anchor="ctr"/>
          <a:lstStyle/>
          <a:p>
            <a:pPr indent="0" marL="0">
              <a:buNone/>
            </a:pPr>
            <a:r>
              <a:rPr lang="en-US" sz="1100" dirty="0">
                <a:solidFill>
                  <a:srgbClr val="E7E8D1"/>
                </a:solidFill>
                <a:latin typeface="Calibri" pitchFamily="34" charset="0"/>
                <a:ea typeface="Calibri" pitchFamily="34" charset="-122"/>
                <a:cs typeface="Calibri" pitchFamily="34" charset="-120"/>
              </a:rPr>
              <a:t>Higher heat mortality</a:t>
            </a:r>
            <a:endParaRPr lang="en-US" sz="1100" dirty="0"/>
          </a:p>
          <a:p>
            <a:pPr indent="0" marL="0">
              <a:buNone/>
            </a:pPr>
            <a:r>
              <a:rPr lang="en-US" sz="1100" dirty="0">
                <a:solidFill>
                  <a:srgbClr val="E7E8D1"/>
                </a:solidFill>
                <a:latin typeface="Calibri" pitchFamily="34" charset="0"/>
                <a:ea typeface="Calibri" pitchFamily="34" charset="-122"/>
                <a:cs typeface="Calibri" pitchFamily="34" charset="-120"/>
              </a:rPr>
              <a:t>vs other industries</a:t>
            </a:r>
            <a:endParaRPr lang="en-US" sz="1100" dirty="0"/>
          </a:p>
        </p:txBody>
      </p:sp>
      <p:sp>
        <p:nvSpPr>
          <p:cNvPr id="12" name="Text 10"/>
          <p:cNvSpPr/>
          <p:nvPr/>
        </p:nvSpPr>
        <p:spPr>
          <a:xfrm>
            <a:off x="5486400" y="4160520"/>
            <a:ext cx="1828800" cy="64008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0</a:t>
            </a:r>
            <a:endParaRPr lang="en-US" sz="3600" dirty="0"/>
          </a:p>
        </p:txBody>
      </p:sp>
      <p:sp>
        <p:nvSpPr>
          <p:cNvPr id="13" name="Text 11"/>
          <p:cNvSpPr/>
          <p:nvPr/>
        </p:nvSpPr>
        <p:spPr>
          <a:xfrm>
            <a:off x="5486400" y="4663440"/>
            <a:ext cx="2286000" cy="457200"/>
          </a:xfrm>
          <a:prstGeom prst="rect">
            <a:avLst/>
          </a:prstGeom>
          <a:noFill/>
          <a:ln/>
        </p:spPr>
        <p:txBody>
          <a:bodyPr wrap="square" rtlCol="0" anchor="ctr"/>
          <a:lstStyle/>
          <a:p>
            <a:pPr indent="0" marL="0">
              <a:buNone/>
            </a:pPr>
            <a:r>
              <a:rPr lang="en-US" sz="1100" dirty="0">
                <a:solidFill>
                  <a:srgbClr val="E7E8D1"/>
                </a:solidFill>
                <a:latin typeface="Calibri" pitchFamily="34" charset="0"/>
                <a:ea typeface="Calibri" pitchFamily="34" charset="-122"/>
                <a:cs typeface="Calibri" pitchFamily="34" charset="-120"/>
              </a:rPr>
              <a:t>Heat early warning</a:t>
            </a:r>
            <a:endParaRPr lang="en-US" sz="1100" dirty="0"/>
          </a:p>
          <a:p>
            <a:pPr indent="0" marL="0">
              <a:buNone/>
            </a:pPr>
            <a:r>
              <a:rPr lang="en-US" sz="1100" dirty="0">
                <a:solidFill>
                  <a:srgbClr val="E7E8D1"/>
                </a:solidFill>
                <a:latin typeface="Calibri" pitchFamily="34" charset="0"/>
                <a:ea typeface="Calibri" pitchFamily="34" charset="-122"/>
                <a:cs typeface="Calibri" pitchFamily="34" charset="-120"/>
              </a:rPr>
              <a:t>systems in East Africa</a:t>
            </a:r>
            <a:endParaRPr lang="en-US" sz="1100" dirty="0"/>
          </a:p>
        </p:txBody>
      </p:sp>
      <p:sp>
        <p:nvSpPr>
          <p:cNvPr id="14" name="Shape 12"/>
          <p:cNvSpPr/>
          <p:nvPr/>
        </p:nvSpPr>
        <p:spPr>
          <a:xfrm>
            <a:off x="7589520" y="4206240"/>
            <a:ext cx="1371600" cy="731520"/>
          </a:xfrm>
          <a:prstGeom prst="rect">
            <a:avLst/>
          </a:prstGeom>
          <a:solidFill>
            <a:srgbClr val="2D6A4F"/>
          </a:solidFill>
          <a:ln/>
        </p:spPr>
        <p:txBody>
          <a:bodyPr/>
          <a:p/>
        </p:txBody>
      </p:sp>
      <p:sp>
        <p:nvSpPr>
          <p:cNvPr id="15" name="Text 13"/>
          <p:cNvSpPr/>
          <p:nvPr/>
        </p:nvSpPr>
        <p:spPr>
          <a:xfrm>
            <a:off x="7589520" y="4251960"/>
            <a:ext cx="13716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LIVE MVP</a:t>
            </a:r>
            <a:endParaRPr lang="en-US" sz="1200" dirty="0"/>
          </a:p>
        </p:txBody>
      </p:sp>
      <p:sp>
        <p:nvSpPr>
          <p:cNvPr id="16" name="Text 14"/>
          <p:cNvSpPr/>
          <p:nvPr/>
        </p:nvSpPr>
        <p:spPr>
          <a:xfrm>
            <a:off x="7589520" y="4526280"/>
            <a:ext cx="1371600" cy="41148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heatshieldagri</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.vercel.app</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3600" b="1" dirty="0">
                <a:solidFill>
                  <a:srgbClr val="1A1A2E"/>
                </a:solidFill>
                <a:latin typeface="Georgia" pitchFamily="34" charset="0"/>
                <a:ea typeface="Georgia" pitchFamily="34" charset="-122"/>
                <a:cs typeface="Georgia" pitchFamily="34" charset="-120"/>
              </a:rPr>
              <a:t>The Problem</a:t>
            </a:r>
            <a:endParaRPr lang="en-US" sz="3600" dirty="0"/>
          </a:p>
        </p:txBody>
      </p:sp>
      <p:sp>
        <p:nvSpPr>
          <p:cNvPr id="3" name="Shape 1"/>
          <p:cNvSpPr/>
          <p:nvPr/>
        </p:nvSpPr>
        <p:spPr>
          <a:xfrm>
            <a:off x="457200" y="1097280"/>
            <a:ext cx="4114800" cy="3657600"/>
          </a:xfrm>
          <a:prstGeom prst="rect">
            <a:avLst/>
          </a:prstGeom>
          <a:solidFill>
            <a:srgbClr val="FFFFFF"/>
          </a:solidFill>
          <a:ln/>
          <a:effectLst>
            <a:outerShdw sx="100000" sy="100000" kx="0" ky="0" algn="bl" rotWithShape="0" blurRad="101600" dist="38100" dir="8100000">
              <a:srgbClr val="000000">
                <a:alpha val="12000"/>
              </a:srgbClr>
            </a:outerShdw>
          </a:effectLst>
        </p:spPr>
        <p:txBody>
          <a:bodyPr/>
          <a:p/>
        </p:txBody>
      </p:sp>
      <p:sp>
        <p:nvSpPr>
          <p:cNvPr id="4" name="Text 2"/>
          <p:cNvSpPr/>
          <p:nvPr/>
        </p:nvSpPr>
        <p:spPr>
          <a:xfrm>
            <a:off x="640080" y="1280160"/>
            <a:ext cx="3749040" cy="731520"/>
          </a:xfrm>
          <a:prstGeom prst="rect">
            <a:avLst/>
          </a:prstGeom>
          <a:noFill/>
          <a:ln/>
        </p:spPr>
        <p:txBody>
          <a:bodyPr wrap="square" rtlCol="0" anchor="ctr"/>
          <a:lstStyle/>
          <a:p>
            <a:pPr indent="0" marL="0">
              <a:buNone/>
            </a:pPr>
            <a:r>
              <a:rPr lang="en-US" sz="1800" b="1" dirty="0">
                <a:solidFill>
                  <a:srgbClr val="1A1A2E"/>
                </a:solidFill>
                <a:latin typeface="Georgia" pitchFamily="34" charset="0"/>
                <a:ea typeface="Georgia" pitchFamily="34" charset="-122"/>
                <a:cs typeface="Georgia" pitchFamily="34" charset="-120"/>
              </a:rPr>
              <a:t>Uganda's farmers work in</a:t>
            </a:r>
            <a:endParaRPr lang="en-US" sz="1800" dirty="0"/>
          </a:p>
          <a:p>
            <a:pPr indent="0" marL="0">
              <a:buNone/>
            </a:pPr>
            <a:r>
              <a:rPr lang="en-US" sz="1800" b="1" dirty="0">
                <a:solidFill>
                  <a:srgbClr val="1A1A2E"/>
                </a:solidFill>
                <a:latin typeface="Georgia" pitchFamily="34" charset="0"/>
                <a:ea typeface="Georgia" pitchFamily="34" charset="-122"/>
                <a:cs typeface="Georgia" pitchFamily="34" charset="-120"/>
              </a:rPr>
              <a:t>increasingly dangerous heat</a:t>
            </a:r>
            <a:endParaRPr lang="en-US" sz="1800" dirty="0"/>
          </a:p>
        </p:txBody>
      </p:sp>
      <p:sp>
        <p:nvSpPr>
          <p:cNvPr id="5" name="Text 3"/>
          <p:cNvSpPr/>
          <p:nvPr/>
        </p:nvSpPr>
        <p:spPr>
          <a:xfrm>
            <a:off x="640080" y="2103120"/>
            <a:ext cx="3749040" cy="1371600"/>
          </a:xfrm>
          <a:prstGeom prst="rect">
            <a:avLst/>
          </a:prstGeom>
          <a:noFill/>
          <a:ln/>
        </p:spPr>
        <p:txBody>
          <a:bodyPr wrap="square" rtlCol="0" anchor="ctr"/>
          <a:lstStyle/>
          <a:p>
            <a:pPr marL="342900" indent="-342900">
              <a:spcAft>
                <a:spcPts val="800"/>
              </a:spcAft>
              <a:buSzPct val="100000"/>
              <a:buChar char="•"/>
            </a:pPr>
            <a:r>
              <a:rPr lang="en-US" sz="1400" dirty="0">
                <a:solidFill>
                  <a:srgbClr val="666666"/>
                </a:solidFill>
                <a:latin typeface="Calibri" pitchFamily="34" charset="0"/>
                <a:ea typeface="Calibri" pitchFamily="34" charset="-122"/>
                <a:cs typeface="Calibri" pitchFamily="34" charset="-120"/>
              </a:rPr>
              <a:t>No systematic protection</a:t>
            </a:r>
            <a:endParaRPr lang="en-US" sz="1400" dirty="0"/>
          </a:p>
          <a:p>
            <a:pPr marL="342900" indent="-342900">
              <a:spcAft>
                <a:spcPts val="800"/>
              </a:spcAft>
              <a:buSzPct val="100000"/>
              <a:buChar char="•"/>
            </a:pPr>
            <a:r>
              <a:rPr lang="en-US" sz="1400" dirty="0">
                <a:solidFill>
                  <a:srgbClr val="666666"/>
                </a:solidFill>
                <a:latin typeface="Calibri" pitchFamily="34" charset="0"/>
                <a:ea typeface="Calibri" pitchFamily="34" charset="-122"/>
                <a:cs typeface="Calibri" pitchFamily="34" charset="-120"/>
              </a:rPr>
              <a:t>No early warning systems</a:t>
            </a:r>
            <a:endParaRPr lang="en-US" sz="1400" dirty="0"/>
          </a:p>
          <a:p>
            <a:pPr marL="342900" indent="-342900">
              <a:spcAft>
                <a:spcPts val="800"/>
              </a:spcAft>
              <a:buSzPct val="100000"/>
              <a:buChar char="•"/>
            </a:pPr>
            <a:r>
              <a:rPr lang="en-US" sz="1400" dirty="0">
                <a:solidFill>
                  <a:srgbClr val="666666"/>
                </a:solidFill>
                <a:latin typeface="Calibri" pitchFamily="34" charset="0"/>
                <a:ea typeface="Calibri" pitchFamily="34" charset="-122"/>
                <a:cs typeface="Calibri" pitchFamily="34" charset="-120"/>
              </a:rPr>
              <a:t>No actionable guidance</a:t>
            </a:r>
            <a:endParaRPr lang="en-US" sz="1400" dirty="0"/>
          </a:p>
          <a:p>
            <a:pPr marL="342900" indent="-342900">
              <a:spcAft>
                <a:spcPts val="800"/>
              </a:spcAft>
              <a:buSzPct val="100000"/>
              <a:buChar char="•"/>
            </a:pPr>
            <a:r>
              <a:rPr lang="en-US" sz="1400" dirty="0">
                <a:solidFill>
                  <a:srgbClr val="666666"/>
                </a:solidFill>
                <a:latin typeface="Calibri" pitchFamily="34" charset="0"/>
                <a:ea typeface="Calibri" pitchFamily="34" charset="-122"/>
                <a:cs typeface="Calibri" pitchFamily="34" charset="-120"/>
              </a:rPr>
              <a:t>Only 11% have extension access</a:t>
            </a:r>
            <a:endParaRPr lang="en-US" sz="1400" dirty="0"/>
          </a:p>
        </p:txBody>
      </p:sp>
      <p:sp>
        <p:nvSpPr>
          <p:cNvPr id="6" name="Shape 4"/>
          <p:cNvSpPr/>
          <p:nvPr/>
        </p:nvSpPr>
        <p:spPr>
          <a:xfrm>
            <a:off x="640080" y="3566160"/>
            <a:ext cx="3749040" cy="1005840"/>
          </a:xfrm>
          <a:prstGeom prst="rect">
            <a:avLst/>
          </a:prstGeom>
          <a:solidFill>
            <a:srgbClr val="B85042">
              <a:alpha val="10000"/>
            </a:srgbClr>
          </a:solidFill>
          <a:ln/>
        </p:spPr>
        <p:txBody>
          <a:bodyPr/>
          <a:p/>
        </p:txBody>
      </p:sp>
      <p:sp>
        <p:nvSpPr>
          <p:cNvPr id="7" name="Text 5"/>
          <p:cNvSpPr/>
          <p:nvPr/>
        </p:nvSpPr>
        <p:spPr>
          <a:xfrm>
            <a:off x="822960" y="3657600"/>
            <a:ext cx="1371600" cy="457200"/>
          </a:xfrm>
          <a:prstGeom prst="rect">
            <a:avLst/>
          </a:prstGeom>
          <a:noFill/>
          <a:ln/>
        </p:spPr>
        <p:txBody>
          <a:bodyPr wrap="square" rtlCol="0" anchor="ctr"/>
          <a:lstStyle/>
          <a:p>
            <a:pPr indent="0" marL="0">
              <a:buNone/>
            </a:pPr>
            <a:r>
              <a:rPr lang="en-US" sz="2000" b="1" dirty="0">
                <a:solidFill>
                  <a:srgbClr val="B85042"/>
                </a:solidFill>
                <a:latin typeface="Georgia" pitchFamily="34" charset="0"/>
                <a:ea typeface="Georgia" pitchFamily="34" charset="-122"/>
                <a:cs typeface="Georgia" pitchFamily="34" charset="-120"/>
              </a:rPr>
              <a:t>18-79%</a:t>
            </a:r>
            <a:endParaRPr lang="en-US" sz="2000" dirty="0"/>
          </a:p>
        </p:txBody>
      </p:sp>
      <p:sp>
        <p:nvSpPr>
          <p:cNvPr id="8" name="Text 6"/>
          <p:cNvSpPr/>
          <p:nvPr/>
        </p:nvSpPr>
        <p:spPr>
          <a:xfrm>
            <a:off x="822960" y="4069080"/>
            <a:ext cx="1371600" cy="45720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heat illness</a:t>
            </a:r>
            <a:endParaRPr lang="en-US" sz="1000" dirty="0"/>
          </a:p>
          <a:p>
            <a:pPr indent="0" marL="0">
              <a:buNone/>
            </a:pPr>
            <a:r>
              <a:rPr lang="en-US" sz="1000" dirty="0">
                <a:solidFill>
                  <a:srgbClr val="666666"/>
                </a:solidFill>
                <a:latin typeface="Calibri" pitchFamily="34" charset="0"/>
                <a:ea typeface="Calibri" pitchFamily="34" charset="-122"/>
                <a:cs typeface="Calibri" pitchFamily="34" charset="-120"/>
              </a:rPr>
              <a:t>prevalence</a:t>
            </a:r>
            <a:endParaRPr lang="en-US" sz="1000" dirty="0"/>
          </a:p>
        </p:txBody>
      </p:sp>
      <p:sp>
        <p:nvSpPr>
          <p:cNvPr id="9" name="Text 7"/>
          <p:cNvSpPr/>
          <p:nvPr/>
        </p:nvSpPr>
        <p:spPr>
          <a:xfrm>
            <a:off x="2468880" y="3657600"/>
            <a:ext cx="1371600" cy="457200"/>
          </a:xfrm>
          <a:prstGeom prst="rect">
            <a:avLst/>
          </a:prstGeom>
          <a:noFill/>
          <a:ln/>
        </p:spPr>
        <p:txBody>
          <a:bodyPr wrap="square" rtlCol="0" anchor="ctr"/>
          <a:lstStyle/>
          <a:p>
            <a:pPr indent="0" marL="0">
              <a:buNone/>
            </a:pPr>
            <a:r>
              <a:rPr lang="en-US" sz="2000" b="1" dirty="0">
                <a:solidFill>
                  <a:srgbClr val="B85042"/>
                </a:solidFill>
                <a:latin typeface="Georgia" pitchFamily="34" charset="0"/>
                <a:ea typeface="Georgia" pitchFamily="34" charset="-122"/>
                <a:cs typeface="Georgia" pitchFamily="34" charset="-120"/>
              </a:rPr>
              <a:t>15%</a:t>
            </a:r>
            <a:endParaRPr lang="en-US" sz="2000" dirty="0"/>
          </a:p>
        </p:txBody>
      </p:sp>
      <p:sp>
        <p:nvSpPr>
          <p:cNvPr id="10" name="Text 8"/>
          <p:cNvSpPr/>
          <p:nvPr/>
        </p:nvSpPr>
        <p:spPr>
          <a:xfrm>
            <a:off x="2468880" y="4069080"/>
            <a:ext cx="1371600" cy="45720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develop chronic</a:t>
            </a:r>
            <a:endParaRPr lang="en-US" sz="1000" dirty="0"/>
          </a:p>
          <a:p>
            <a:pPr indent="0" marL="0">
              <a:buNone/>
            </a:pPr>
            <a:r>
              <a:rPr lang="en-US" sz="1000" dirty="0">
                <a:solidFill>
                  <a:srgbClr val="666666"/>
                </a:solidFill>
                <a:latin typeface="Calibri" pitchFamily="34" charset="0"/>
                <a:ea typeface="Calibri" pitchFamily="34" charset="-122"/>
                <a:cs typeface="Calibri" pitchFamily="34" charset="-120"/>
              </a:rPr>
              <a:t>kidney disease</a:t>
            </a:r>
            <a:endParaRPr lang="en-US" sz="1000" dirty="0"/>
          </a:p>
        </p:txBody>
      </p:sp>
      <p:sp>
        <p:nvSpPr>
          <p:cNvPr id="11" name="Shape 9"/>
          <p:cNvSpPr/>
          <p:nvPr/>
        </p:nvSpPr>
        <p:spPr>
          <a:xfrm>
            <a:off x="4754880" y="1097280"/>
            <a:ext cx="3931920" cy="3657600"/>
          </a:xfrm>
          <a:prstGeom prst="rect">
            <a:avLst/>
          </a:prstGeom>
          <a:solidFill>
            <a:srgbClr val="FFFFFF"/>
          </a:solidFill>
          <a:ln/>
          <a:effectLst>
            <a:outerShdw sx="100000" sy="100000" kx="0" ky="0" algn="bl" rotWithShape="0" blurRad="101600" dist="38100" dir="8100000">
              <a:srgbClr val="000000">
                <a:alpha val="12000"/>
              </a:srgbClr>
            </a:outerShdw>
          </a:effectLst>
        </p:spPr>
        <p:txBody>
          <a:bodyPr/>
          <a:p/>
        </p:txBody>
      </p:sp>
      <p:sp>
        <p:nvSpPr>
          <p:cNvPr id="12" name="Text 10"/>
          <p:cNvSpPr/>
          <p:nvPr/>
        </p:nvSpPr>
        <p:spPr>
          <a:xfrm>
            <a:off x="4937760" y="1280160"/>
            <a:ext cx="3566160" cy="457200"/>
          </a:xfrm>
          <a:prstGeom prst="rect">
            <a:avLst/>
          </a:prstGeom>
          <a:noFill/>
          <a:ln/>
        </p:spPr>
        <p:txBody>
          <a:bodyPr wrap="square" rtlCol="0" anchor="ctr"/>
          <a:lstStyle/>
          <a:p>
            <a:pPr indent="0" marL="0">
              <a:buNone/>
            </a:pPr>
            <a:r>
              <a:rPr lang="en-US" sz="1600" b="1" dirty="0">
                <a:solidFill>
                  <a:srgbClr val="1A1A2E"/>
                </a:solidFill>
                <a:latin typeface="Georgia" pitchFamily="34" charset="0"/>
                <a:ea typeface="Georgia" pitchFamily="34" charset="-122"/>
                <a:cs typeface="Georgia" pitchFamily="34" charset="-120"/>
              </a:rPr>
              <a:t>Climate Projections</a:t>
            </a:r>
            <a:endParaRPr lang="en-US" sz="1600" dirty="0"/>
          </a:p>
        </p:txBody>
      </p:sp>
      <p:sp>
        <p:nvSpPr>
          <p:cNvPr id="13" name="Shape 11"/>
          <p:cNvSpPr/>
          <p:nvPr/>
        </p:nvSpPr>
        <p:spPr>
          <a:xfrm>
            <a:off x="4937760" y="1828800"/>
            <a:ext cx="1097280" cy="320040"/>
          </a:xfrm>
          <a:prstGeom prst="rect">
            <a:avLst/>
          </a:prstGeom>
          <a:solidFill>
            <a:srgbClr val="4CAF50"/>
          </a:solidFill>
          <a:ln/>
        </p:spPr>
        <p:txBody>
          <a:bodyPr/>
          <a:p/>
        </p:txBody>
      </p:sp>
      <p:sp>
        <p:nvSpPr>
          <p:cNvPr id="14" name="Text 12"/>
          <p:cNvSpPr/>
          <p:nvPr/>
        </p:nvSpPr>
        <p:spPr>
          <a:xfrm>
            <a:off x="5029200" y="1828800"/>
            <a:ext cx="9144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&lt;26°C</a:t>
            </a:r>
            <a:endParaRPr lang="en-US" sz="1000" dirty="0"/>
          </a:p>
        </p:txBody>
      </p:sp>
      <p:sp>
        <p:nvSpPr>
          <p:cNvPr id="15" name="Text 13"/>
          <p:cNvSpPr/>
          <p:nvPr/>
        </p:nvSpPr>
        <p:spPr>
          <a:xfrm>
            <a:off x="6217920" y="1828800"/>
            <a:ext cx="1371600" cy="32004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Low</a:t>
            </a:r>
            <a:endParaRPr lang="en-US" sz="1000" dirty="0"/>
          </a:p>
        </p:txBody>
      </p:sp>
      <p:sp>
        <p:nvSpPr>
          <p:cNvPr id="16" name="Shape 14"/>
          <p:cNvSpPr/>
          <p:nvPr/>
        </p:nvSpPr>
        <p:spPr>
          <a:xfrm>
            <a:off x="4937760" y="2240280"/>
            <a:ext cx="1463040" cy="320040"/>
          </a:xfrm>
          <a:prstGeom prst="rect">
            <a:avLst/>
          </a:prstGeom>
          <a:solidFill>
            <a:srgbClr val="FFC107"/>
          </a:solidFill>
          <a:ln/>
        </p:spPr>
        <p:txBody>
          <a:bodyPr/>
          <a:p/>
        </p:txBody>
      </p:sp>
      <p:sp>
        <p:nvSpPr>
          <p:cNvPr id="17" name="Text 15"/>
          <p:cNvSpPr/>
          <p:nvPr/>
        </p:nvSpPr>
        <p:spPr>
          <a:xfrm>
            <a:off x="5029200" y="2240280"/>
            <a:ext cx="128016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26-28°C</a:t>
            </a:r>
            <a:endParaRPr lang="en-US" sz="1000" dirty="0"/>
          </a:p>
        </p:txBody>
      </p:sp>
      <p:sp>
        <p:nvSpPr>
          <p:cNvPr id="18" name="Text 16"/>
          <p:cNvSpPr/>
          <p:nvPr/>
        </p:nvSpPr>
        <p:spPr>
          <a:xfrm>
            <a:off x="6583680" y="2240280"/>
            <a:ext cx="1371600" cy="32004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Moderate</a:t>
            </a:r>
            <a:endParaRPr lang="en-US" sz="1000" dirty="0"/>
          </a:p>
        </p:txBody>
      </p:sp>
      <p:sp>
        <p:nvSpPr>
          <p:cNvPr id="19" name="Shape 17"/>
          <p:cNvSpPr/>
          <p:nvPr/>
        </p:nvSpPr>
        <p:spPr>
          <a:xfrm>
            <a:off x="4937760" y="2651760"/>
            <a:ext cx="1828800" cy="320040"/>
          </a:xfrm>
          <a:prstGeom prst="rect">
            <a:avLst/>
          </a:prstGeom>
          <a:solidFill>
            <a:srgbClr val="FF9800"/>
          </a:solidFill>
          <a:ln/>
        </p:spPr>
        <p:txBody>
          <a:bodyPr/>
          <a:p/>
        </p:txBody>
      </p:sp>
      <p:sp>
        <p:nvSpPr>
          <p:cNvPr id="20" name="Text 18"/>
          <p:cNvSpPr/>
          <p:nvPr/>
        </p:nvSpPr>
        <p:spPr>
          <a:xfrm>
            <a:off x="5029200" y="2651760"/>
            <a:ext cx="164592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28-30°C</a:t>
            </a:r>
            <a:endParaRPr lang="en-US" sz="1000" dirty="0"/>
          </a:p>
        </p:txBody>
      </p:sp>
      <p:sp>
        <p:nvSpPr>
          <p:cNvPr id="21" name="Text 19"/>
          <p:cNvSpPr/>
          <p:nvPr/>
        </p:nvSpPr>
        <p:spPr>
          <a:xfrm>
            <a:off x="6949440" y="2651760"/>
            <a:ext cx="1371600" cy="32004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High</a:t>
            </a:r>
            <a:endParaRPr lang="en-US" sz="1000" dirty="0"/>
          </a:p>
        </p:txBody>
      </p:sp>
      <p:sp>
        <p:nvSpPr>
          <p:cNvPr id="22" name="Shape 20"/>
          <p:cNvSpPr/>
          <p:nvPr/>
        </p:nvSpPr>
        <p:spPr>
          <a:xfrm>
            <a:off x="4937760" y="3063240"/>
            <a:ext cx="2194560" cy="320040"/>
          </a:xfrm>
          <a:prstGeom prst="rect">
            <a:avLst/>
          </a:prstGeom>
          <a:solidFill>
            <a:srgbClr val="FF5722"/>
          </a:solidFill>
          <a:ln/>
        </p:spPr>
        <p:txBody>
          <a:bodyPr/>
          <a:p/>
        </p:txBody>
      </p:sp>
      <p:sp>
        <p:nvSpPr>
          <p:cNvPr id="23" name="Text 21"/>
          <p:cNvSpPr/>
          <p:nvPr/>
        </p:nvSpPr>
        <p:spPr>
          <a:xfrm>
            <a:off x="5029200" y="3063240"/>
            <a:ext cx="201168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30-32°C</a:t>
            </a:r>
            <a:endParaRPr lang="en-US" sz="1000" dirty="0"/>
          </a:p>
        </p:txBody>
      </p:sp>
      <p:sp>
        <p:nvSpPr>
          <p:cNvPr id="24" name="Text 22"/>
          <p:cNvSpPr/>
          <p:nvPr/>
        </p:nvSpPr>
        <p:spPr>
          <a:xfrm>
            <a:off x="7315200" y="3063240"/>
            <a:ext cx="1371600" cy="32004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Very High</a:t>
            </a:r>
            <a:endParaRPr lang="en-US" sz="1000" dirty="0"/>
          </a:p>
        </p:txBody>
      </p:sp>
      <p:sp>
        <p:nvSpPr>
          <p:cNvPr id="25" name="Shape 23"/>
          <p:cNvSpPr/>
          <p:nvPr/>
        </p:nvSpPr>
        <p:spPr>
          <a:xfrm>
            <a:off x="4937760" y="3474720"/>
            <a:ext cx="2560320" cy="320040"/>
          </a:xfrm>
          <a:prstGeom prst="rect">
            <a:avLst/>
          </a:prstGeom>
          <a:solidFill>
            <a:srgbClr val="D32F2F"/>
          </a:solidFill>
          <a:ln/>
        </p:spPr>
        <p:txBody>
          <a:bodyPr/>
          <a:p/>
        </p:txBody>
      </p:sp>
      <p:sp>
        <p:nvSpPr>
          <p:cNvPr id="26" name="Text 24"/>
          <p:cNvSpPr/>
          <p:nvPr/>
        </p:nvSpPr>
        <p:spPr>
          <a:xfrm>
            <a:off x="5029200" y="3474720"/>
            <a:ext cx="237744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&gt;32°C</a:t>
            </a:r>
            <a:endParaRPr lang="en-US" sz="1000" dirty="0"/>
          </a:p>
        </p:txBody>
      </p:sp>
      <p:sp>
        <p:nvSpPr>
          <p:cNvPr id="27" name="Text 25"/>
          <p:cNvSpPr/>
          <p:nvPr/>
        </p:nvSpPr>
        <p:spPr>
          <a:xfrm>
            <a:off x="7680960" y="3474720"/>
            <a:ext cx="1371600" cy="32004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Extreme</a:t>
            </a:r>
            <a:endParaRPr lang="en-US" sz="1000" dirty="0"/>
          </a:p>
        </p:txBody>
      </p:sp>
      <p:sp>
        <p:nvSpPr>
          <p:cNvPr id="28" name="Shape 26"/>
          <p:cNvSpPr/>
          <p:nvPr/>
        </p:nvSpPr>
        <p:spPr>
          <a:xfrm>
            <a:off x="4937760" y="3931920"/>
            <a:ext cx="3566160" cy="640080"/>
          </a:xfrm>
          <a:prstGeom prst="rect">
            <a:avLst/>
          </a:prstGeom>
          <a:solidFill>
            <a:srgbClr val="9D0208">
              <a:alpha val="15000"/>
            </a:srgbClr>
          </a:solidFill>
          <a:ln/>
        </p:spPr>
        <p:txBody>
          <a:bodyPr/>
          <a:p/>
        </p:txBody>
      </p:sp>
      <p:sp>
        <p:nvSpPr>
          <p:cNvPr id="29" name="Text 27"/>
          <p:cNvSpPr/>
          <p:nvPr/>
        </p:nvSpPr>
        <p:spPr>
          <a:xfrm>
            <a:off x="5029200" y="3977640"/>
            <a:ext cx="3383280" cy="548640"/>
          </a:xfrm>
          <a:prstGeom prst="rect">
            <a:avLst/>
          </a:prstGeom>
          <a:noFill/>
          <a:ln/>
        </p:spPr>
        <p:txBody>
          <a:bodyPr wrap="square" rtlCol="0" anchor="ctr"/>
          <a:lstStyle/>
          <a:p>
            <a:pPr algn="ctr" indent="0" marL="0">
              <a:buNone/>
            </a:pPr>
            <a:r>
              <a:rPr lang="en-US" sz="1100" dirty="0">
                <a:solidFill>
                  <a:srgbClr val="9D0208"/>
                </a:solidFill>
                <a:latin typeface="Calibri" pitchFamily="34" charset="0"/>
                <a:ea typeface="Calibri" pitchFamily="34" charset="-122"/>
                <a:cs typeface="Calibri" pitchFamily="34" charset="-120"/>
              </a:rPr>
              <a:t>By 2050: Uganda's WBGT reaches 26-29°C</a:t>
            </a:r>
            <a:endParaRPr lang="en-US" sz="1100" dirty="0"/>
          </a:p>
          <a:p>
            <a:pPr algn="ctr" indent="0" marL="0">
              <a:buNone/>
            </a:pPr>
            <a:r>
              <a:rPr lang="en-US" sz="1100" dirty="0">
                <a:solidFill>
                  <a:srgbClr val="9D0208"/>
                </a:solidFill>
                <a:latin typeface="Calibri" pitchFamily="34" charset="0"/>
                <a:ea typeface="Calibri" pitchFamily="34" charset="-122"/>
                <a:cs typeface="Calibri" pitchFamily="34" charset="-120"/>
              </a:rPr>
              <a:t>Workers must rest up to 75% of each hour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3600" b="1" dirty="0">
                <a:solidFill>
                  <a:srgbClr val="1A1A2E"/>
                </a:solidFill>
                <a:latin typeface="Georgia" pitchFamily="34" charset="0"/>
                <a:ea typeface="Georgia" pitchFamily="34" charset="-122"/>
                <a:cs typeface="Georgia" pitchFamily="34" charset="-120"/>
              </a:rPr>
              <a:t>Our Solution</a:t>
            </a:r>
            <a:endParaRPr lang="en-US" sz="3600" dirty="0"/>
          </a:p>
        </p:txBody>
      </p:sp>
      <p:sp>
        <p:nvSpPr>
          <p:cNvPr id="3" name="Text 1"/>
          <p:cNvSpPr/>
          <p:nvPr/>
        </p:nvSpPr>
        <p:spPr>
          <a:xfrm>
            <a:off x="457200" y="822960"/>
            <a:ext cx="8229600" cy="365760"/>
          </a:xfrm>
          <a:prstGeom prst="rect">
            <a:avLst/>
          </a:prstGeom>
          <a:noFill/>
          <a:ln/>
        </p:spPr>
        <p:txBody>
          <a:bodyPr wrap="square" rtlCol="0" anchor="ctr"/>
          <a:lstStyle/>
          <a:p>
            <a:pPr indent="0" marL="0">
              <a:buNone/>
            </a:pPr>
            <a:r>
              <a:rPr lang="en-US" sz="1600" i="1" dirty="0">
                <a:solidFill>
                  <a:srgbClr val="666666"/>
                </a:solidFill>
                <a:latin typeface="Calibri" pitchFamily="34" charset="0"/>
                <a:ea typeface="Calibri" pitchFamily="34" charset="-122"/>
                <a:cs typeface="Calibri" pitchFamily="34" charset="-120"/>
              </a:rPr>
              <a:t>AI-powered heat stress predictions delivered through accessible mobile channels</a:t>
            </a:r>
            <a:endParaRPr lang="en-US" sz="1600" dirty="0"/>
          </a:p>
        </p:txBody>
      </p:sp>
      <p:sp>
        <p:nvSpPr>
          <p:cNvPr id="4" name="Shape 2"/>
          <p:cNvSpPr/>
          <p:nvPr/>
        </p:nvSpPr>
        <p:spPr>
          <a:xfrm>
            <a:off x="457200" y="1371600"/>
            <a:ext cx="2651760" cy="2560320"/>
          </a:xfrm>
          <a:prstGeom prst="rect">
            <a:avLst/>
          </a:prstGeom>
          <a:solidFill>
            <a:srgbClr val="F5F5F5"/>
          </a:solidFill>
          <a:ln/>
          <a:effectLst>
            <a:outerShdw sx="100000" sy="100000" kx="0" ky="0" algn="bl" rotWithShape="0" blurRad="101600" dist="38100" dir="8100000">
              <a:srgbClr val="000000">
                <a:alpha val="12000"/>
              </a:srgbClr>
            </a:outerShdw>
          </a:effectLst>
        </p:spPr>
        <p:txBody>
          <a:bodyPr/>
          <a:p/>
        </p:txBody>
      </p:sp>
      <p:sp>
        <p:nvSpPr>
          <p:cNvPr id="5" name="Shape 3"/>
          <p:cNvSpPr/>
          <p:nvPr/>
        </p:nvSpPr>
        <p:spPr>
          <a:xfrm>
            <a:off x="457200" y="1371600"/>
            <a:ext cx="2651760" cy="137160"/>
          </a:xfrm>
          <a:prstGeom prst="rect">
            <a:avLst/>
          </a:prstGeom>
          <a:solidFill>
            <a:srgbClr val="2E5A8C"/>
          </a:solidFill>
          <a:ln/>
        </p:spPr>
        <p:txBody>
          <a:bodyPr/>
          <a:p/>
        </p:txBody>
      </p:sp>
      <p:sp>
        <p:nvSpPr>
          <p:cNvPr id="6" name="Text 4"/>
          <p:cNvSpPr/>
          <p:nvPr/>
        </p:nvSpPr>
        <p:spPr>
          <a:xfrm>
            <a:off x="594360" y="1600200"/>
            <a:ext cx="2377440" cy="365760"/>
          </a:xfrm>
          <a:prstGeom prst="rect">
            <a:avLst/>
          </a:prstGeom>
          <a:noFill/>
          <a:ln/>
        </p:spPr>
        <p:txBody>
          <a:bodyPr wrap="square" rtlCol="0" anchor="ctr"/>
          <a:lstStyle/>
          <a:p>
            <a:pPr indent="0" marL="0">
              <a:buNone/>
            </a:pPr>
            <a:r>
              <a:rPr lang="en-US" sz="1600" b="1" dirty="0">
                <a:solidFill>
                  <a:srgbClr val="1A1A2E"/>
                </a:solidFill>
                <a:latin typeface="Georgia" pitchFamily="34" charset="0"/>
                <a:ea typeface="Georgia" pitchFamily="34" charset="-122"/>
                <a:cs typeface="Georgia" pitchFamily="34" charset="-120"/>
              </a:rPr>
              <a:t>Web Dashboard</a:t>
            </a:r>
            <a:endParaRPr lang="en-US" sz="1600" dirty="0"/>
          </a:p>
        </p:txBody>
      </p:sp>
      <p:sp>
        <p:nvSpPr>
          <p:cNvPr id="7" name="Text 5"/>
          <p:cNvSpPr/>
          <p:nvPr/>
        </p:nvSpPr>
        <p:spPr>
          <a:xfrm>
            <a:off x="594360" y="2011680"/>
            <a:ext cx="2377440" cy="548640"/>
          </a:xfrm>
          <a:prstGeom prst="rect">
            <a:avLst/>
          </a:prstGeom>
          <a:noFill/>
          <a:ln/>
        </p:spPr>
        <p:txBody>
          <a:bodyPr wrap="square" rtlCol="0" anchor="ctr"/>
          <a:lstStyle/>
          <a:p>
            <a:pPr indent="0" marL="0">
              <a:buNone/>
            </a:pPr>
            <a:r>
              <a:rPr lang="en-US" sz="1200" dirty="0">
                <a:solidFill>
                  <a:srgbClr val="2E5A8C"/>
                </a:solidFill>
                <a:latin typeface="Calibri" pitchFamily="34" charset="0"/>
                <a:ea typeface="Calibri" pitchFamily="34" charset="-122"/>
                <a:cs typeface="Calibri" pitchFamily="34" charset="-120"/>
              </a:rPr>
              <a:t>Extension Workers</a:t>
            </a:r>
            <a:endParaRPr lang="en-US" sz="1200" dirty="0"/>
          </a:p>
          <a:p>
            <a:pPr indent="0" marL="0">
              <a:buNone/>
            </a:pPr>
            <a:r>
              <a:rPr lang="en-US" sz="1200" dirty="0">
                <a:solidFill>
                  <a:srgbClr val="2E5A8C"/>
                </a:solidFill>
                <a:latin typeface="Calibri" pitchFamily="34" charset="0"/>
                <a:ea typeface="Calibri" pitchFamily="34" charset="-122"/>
                <a:cs typeface="Calibri" pitchFamily="34" charset="-120"/>
              </a:rPr>
              <a:t>&amp; Cooperatives</a:t>
            </a:r>
            <a:endParaRPr lang="en-US" sz="1200" dirty="0"/>
          </a:p>
        </p:txBody>
      </p:sp>
      <p:sp>
        <p:nvSpPr>
          <p:cNvPr id="8" name="Text 6"/>
          <p:cNvSpPr/>
          <p:nvPr/>
        </p:nvSpPr>
        <p:spPr>
          <a:xfrm>
            <a:off x="594360" y="2651760"/>
            <a:ext cx="2377440" cy="914400"/>
          </a:xfrm>
          <a:prstGeom prst="rect">
            <a:avLst/>
          </a:prstGeom>
          <a:noFill/>
          <a:ln/>
        </p:spPr>
        <p:txBody>
          <a:bodyPr wrap="square" rtlCol="0" anchor="ctr"/>
          <a:lstStyle/>
          <a:p>
            <a:pPr indent="0" marL="0">
              <a:buNone/>
            </a:pPr>
            <a:r>
              <a:rPr lang="en-US" sz="1100" dirty="0">
                <a:solidFill>
                  <a:srgbClr val="666666"/>
                </a:solidFill>
                <a:latin typeface="Calibri" pitchFamily="34" charset="0"/>
                <a:ea typeface="Calibri" pitchFamily="34" charset="-122"/>
                <a:cs typeface="Calibri" pitchFamily="34" charset="-120"/>
              </a:rPr>
              <a:t>Full analytics</a:t>
            </a:r>
            <a:endParaRPr lang="en-US" sz="1100" dirty="0"/>
          </a:p>
          <a:p>
            <a:pPr indent="0" marL="0">
              <a:buNone/>
            </a:pPr>
            <a:r>
              <a:rPr lang="en-US" sz="1100" dirty="0">
                <a:solidFill>
                  <a:srgbClr val="666666"/>
                </a:solidFill>
                <a:latin typeface="Calibri" pitchFamily="34" charset="0"/>
                <a:ea typeface="Calibri" pitchFamily="34" charset="-122"/>
                <a:cs typeface="Calibri" pitchFamily="34" charset="-120"/>
              </a:rPr>
              <a:t>72-hour forecasts</a:t>
            </a:r>
            <a:endParaRPr lang="en-US" sz="1100" dirty="0"/>
          </a:p>
          <a:p>
            <a:pPr indent="0" marL="0">
              <a:buNone/>
            </a:pPr>
            <a:r>
              <a:rPr lang="en-US" sz="1100" dirty="0">
                <a:solidFill>
                  <a:srgbClr val="666666"/>
                </a:solidFill>
                <a:latin typeface="Calibri" pitchFamily="34" charset="0"/>
                <a:ea typeface="Calibri" pitchFamily="34" charset="-122"/>
                <a:cs typeface="Calibri" pitchFamily="34" charset="-120"/>
              </a:rPr>
              <a:t>Farmer management</a:t>
            </a:r>
            <a:endParaRPr lang="en-US" sz="1100" dirty="0"/>
          </a:p>
        </p:txBody>
      </p:sp>
      <p:sp>
        <p:nvSpPr>
          <p:cNvPr id="9" name="Shape 7"/>
          <p:cNvSpPr/>
          <p:nvPr/>
        </p:nvSpPr>
        <p:spPr>
          <a:xfrm>
            <a:off x="3291840" y="1371600"/>
            <a:ext cx="2651760" cy="2560320"/>
          </a:xfrm>
          <a:prstGeom prst="rect">
            <a:avLst/>
          </a:prstGeom>
          <a:solidFill>
            <a:srgbClr val="F5F5F5"/>
          </a:solidFill>
          <a:ln/>
          <a:effectLst>
            <a:outerShdw sx="100000" sy="100000" kx="0" ky="0" algn="bl" rotWithShape="0" blurRad="101600" dist="38100" dir="8100000">
              <a:srgbClr val="000000">
                <a:alpha val="12000"/>
              </a:srgbClr>
            </a:outerShdw>
          </a:effectLst>
        </p:spPr>
        <p:txBody>
          <a:bodyPr/>
          <a:p/>
        </p:txBody>
      </p:sp>
      <p:sp>
        <p:nvSpPr>
          <p:cNvPr id="10" name="Shape 8"/>
          <p:cNvSpPr/>
          <p:nvPr/>
        </p:nvSpPr>
        <p:spPr>
          <a:xfrm>
            <a:off x="3291840" y="1371600"/>
            <a:ext cx="2651760" cy="137160"/>
          </a:xfrm>
          <a:prstGeom prst="rect">
            <a:avLst/>
          </a:prstGeom>
          <a:solidFill>
            <a:srgbClr val="2D6A4F"/>
          </a:solidFill>
          <a:ln/>
        </p:spPr>
        <p:txBody>
          <a:bodyPr/>
          <a:p/>
        </p:txBody>
      </p:sp>
      <p:sp>
        <p:nvSpPr>
          <p:cNvPr id="11" name="Text 9"/>
          <p:cNvSpPr/>
          <p:nvPr/>
        </p:nvSpPr>
        <p:spPr>
          <a:xfrm>
            <a:off x="3429000" y="1600200"/>
            <a:ext cx="2377440" cy="365760"/>
          </a:xfrm>
          <a:prstGeom prst="rect">
            <a:avLst/>
          </a:prstGeom>
          <a:noFill/>
          <a:ln/>
        </p:spPr>
        <p:txBody>
          <a:bodyPr wrap="square" rtlCol="0" anchor="ctr"/>
          <a:lstStyle/>
          <a:p>
            <a:pPr indent="0" marL="0">
              <a:buNone/>
            </a:pPr>
            <a:r>
              <a:rPr lang="en-US" sz="1600" b="1" dirty="0">
                <a:solidFill>
                  <a:srgbClr val="1A1A2E"/>
                </a:solidFill>
                <a:latin typeface="Georgia" pitchFamily="34" charset="0"/>
                <a:ea typeface="Georgia" pitchFamily="34" charset="-122"/>
                <a:cs typeface="Georgia" pitchFamily="34" charset="-120"/>
              </a:rPr>
              <a:t>Android App</a:t>
            </a:r>
            <a:endParaRPr lang="en-US" sz="1600" dirty="0"/>
          </a:p>
        </p:txBody>
      </p:sp>
      <p:sp>
        <p:nvSpPr>
          <p:cNvPr id="12" name="Text 10"/>
          <p:cNvSpPr/>
          <p:nvPr/>
        </p:nvSpPr>
        <p:spPr>
          <a:xfrm>
            <a:off x="3429000" y="2011680"/>
            <a:ext cx="2377440" cy="548640"/>
          </a:xfrm>
          <a:prstGeom prst="rect">
            <a:avLst/>
          </a:prstGeom>
          <a:noFill/>
          <a:ln/>
        </p:spPr>
        <p:txBody>
          <a:bodyPr wrap="square" rtlCol="0" anchor="ctr"/>
          <a:lstStyle/>
          <a:p>
            <a:pPr indent="0" marL="0">
              <a:buNone/>
            </a:pPr>
            <a:r>
              <a:rPr lang="en-US" sz="1200" dirty="0">
                <a:solidFill>
                  <a:srgbClr val="2D6A4F"/>
                </a:solidFill>
                <a:latin typeface="Calibri" pitchFamily="34" charset="0"/>
                <a:ea typeface="Calibri" pitchFamily="34" charset="-122"/>
                <a:cs typeface="Calibri" pitchFamily="34" charset="-120"/>
              </a:rPr>
              <a:t>Tech-Enabled</a:t>
            </a:r>
            <a:endParaRPr lang="en-US" sz="1200" dirty="0"/>
          </a:p>
          <a:p>
            <a:pPr indent="0" marL="0">
              <a:buNone/>
            </a:pPr>
            <a:r>
              <a:rPr lang="en-US" sz="1200" dirty="0">
                <a:solidFill>
                  <a:srgbClr val="2D6A4F"/>
                </a:solidFill>
                <a:latin typeface="Calibri" pitchFamily="34" charset="0"/>
                <a:ea typeface="Calibri" pitchFamily="34" charset="-122"/>
                <a:cs typeface="Calibri" pitchFamily="34" charset="-120"/>
              </a:rPr>
              <a:t>Farmers</a:t>
            </a:r>
            <a:endParaRPr lang="en-US" sz="1200" dirty="0"/>
          </a:p>
        </p:txBody>
      </p:sp>
      <p:sp>
        <p:nvSpPr>
          <p:cNvPr id="13" name="Text 11"/>
          <p:cNvSpPr/>
          <p:nvPr/>
        </p:nvSpPr>
        <p:spPr>
          <a:xfrm>
            <a:off x="3429000" y="2651760"/>
            <a:ext cx="2377440" cy="914400"/>
          </a:xfrm>
          <a:prstGeom prst="rect">
            <a:avLst/>
          </a:prstGeom>
          <a:noFill/>
          <a:ln/>
        </p:spPr>
        <p:txBody>
          <a:bodyPr wrap="square" rtlCol="0" anchor="ctr"/>
          <a:lstStyle/>
          <a:p>
            <a:pPr indent="0" marL="0">
              <a:buNone/>
            </a:pPr>
            <a:r>
              <a:rPr lang="en-US" sz="1100" dirty="0">
                <a:solidFill>
                  <a:srgbClr val="666666"/>
                </a:solidFill>
                <a:latin typeface="Calibri" pitchFamily="34" charset="0"/>
                <a:ea typeface="Calibri" pitchFamily="34" charset="-122"/>
                <a:cs typeface="Calibri" pitchFamily="34" charset="-120"/>
              </a:rPr>
              <a:t>Offline capability</a:t>
            </a:r>
            <a:endParaRPr lang="en-US" sz="1100" dirty="0"/>
          </a:p>
          <a:p>
            <a:pPr indent="0" marL="0">
              <a:buNone/>
            </a:pPr>
            <a:r>
              <a:rPr lang="en-US" sz="1100" dirty="0">
                <a:solidFill>
                  <a:srgbClr val="666666"/>
                </a:solidFill>
                <a:latin typeface="Calibri" pitchFamily="34" charset="0"/>
                <a:ea typeface="Calibri" pitchFamily="34" charset="-122"/>
                <a:cs typeface="Calibri" pitchFamily="34" charset="-120"/>
              </a:rPr>
              <a:t>Push notifications</a:t>
            </a:r>
            <a:endParaRPr lang="en-US" sz="1100" dirty="0"/>
          </a:p>
          <a:p>
            <a:pPr indent="0" marL="0">
              <a:buNone/>
            </a:pPr>
            <a:r>
              <a:rPr lang="en-US" sz="1100" dirty="0">
                <a:solidFill>
                  <a:srgbClr val="666666"/>
                </a:solidFill>
                <a:latin typeface="Calibri" pitchFamily="34" charset="0"/>
                <a:ea typeface="Calibri" pitchFamily="34" charset="-122"/>
                <a:cs typeface="Calibri" pitchFamily="34" charset="-120"/>
              </a:rPr>
              <a:t>Location tracking</a:t>
            </a:r>
            <a:endParaRPr lang="en-US" sz="1100" dirty="0"/>
          </a:p>
        </p:txBody>
      </p:sp>
      <p:sp>
        <p:nvSpPr>
          <p:cNvPr id="14" name="Shape 12"/>
          <p:cNvSpPr/>
          <p:nvPr/>
        </p:nvSpPr>
        <p:spPr>
          <a:xfrm>
            <a:off x="6126480" y="1371600"/>
            <a:ext cx="2651760" cy="2560320"/>
          </a:xfrm>
          <a:prstGeom prst="rect">
            <a:avLst/>
          </a:prstGeom>
          <a:solidFill>
            <a:srgbClr val="F5F5F5"/>
          </a:solidFill>
          <a:ln/>
          <a:effectLst>
            <a:outerShdw sx="100000" sy="100000" kx="0" ky="0" algn="bl" rotWithShape="0" blurRad="101600" dist="38100" dir="8100000">
              <a:srgbClr val="000000">
                <a:alpha val="12000"/>
              </a:srgbClr>
            </a:outerShdw>
          </a:effectLst>
        </p:spPr>
        <p:txBody>
          <a:bodyPr/>
          <a:p/>
        </p:txBody>
      </p:sp>
      <p:sp>
        <p:nvSpPr>
          <p:cNvPr id="15" name="Shape 13"/>
          <p:cNvSpPr/>
          <p:nvPr/>
        </p:nvSpPr>
        <p:spPr>
          <a:xfrm>
            <a:off x="6126480" y="1371600"/>
            <a:ext cx="2651760" cy="137160"/>
          </a:xfrm>
          <a:prstGeom prst="rect">
            <a:avLst/>
          </a:prstGeom>
          <a:solidFill>
            <a:srgbClr val="E85D04"/>
          </a:solidFill>
          <a:ln/>
        </p:spPr>
        <p:txBody>
          <a:bodyPr/>
          <a:p/>
        </p:txBody>
      </p:sp>
      <p:sp>
        <p:nvSpPr>
          <p:cNvPr id="16" name="Text 14"/>
          <p:cNvSpPr/>
          <p:nvPr/>
        </p:nvSpPr>
        <p:spPr>
          <a:xfrm>
            <a:off x="6263640" y="1600200"/>
            <a:ext cx="2377440" cy="365760"/>
          </a:xfrm>
          <a:prstGeom prst="rect">
            <a:avLst/>
          </a:prstGeom>
          <a:noFill/>
          <a:ln/>
        </p:spPr>
        <p:txBody>
          <a:bodyPr wrap="square" rtlCol="0" anchor="ctr"/>
          <a:lstStyle/>
          <a:p>
            <a:pPr indent="0" marL="0">
              <a:buNone/>
            </a:pPr>
            <a:r>
              <a:rPr lang="en-US" sz="1600" b="1" dirty="0">
                <a:solidFill>
                  <a:srgbClr val="1A1A2E"/>
                </a:solidFill>
                <a:latin typeface="Georgia" pitchFamily="34" charset="0"/>
                <a:ea typeface="Georgia" pitchFamily="34" charset="-122"/>
                <a:cs typeface="Georgia" pitchFamily="34" charset="-120"/>
              </a:rPr>
              <a:t>USSD/SMS</a:t>
            </a:r>
            <a:endParaRPr lang="en-US" sz="1600" dirty="0"/>
          </a:p>
        </p:txBody>
      </p:sp>
      <p:sp>
        <p:nvSpPr>
          <p:cNvPr id="17" name="Text 15"/>
          <p:cNvSpPr/>
          <p:nvPr/>
        </p:nvSpPr>
        <p:spPr>
          <a:xfrm>
            <a:off x="6263640" y="2011680"/>
            <a:ext cx="2377440" cy="548640"/>
          </a:xfrm>
          <a:prstGeom prst="rect">
            <a:avLst/>
          </a:prstGeom>
          <a:noFill/>
          <a:ln/>
        </p:spPr>
        <p:txBody>
          <a:bodyPr wrap="square" rtlCol="0" anchor="ctr"/>
          <a:lstStyle/>
          <a:p>
            <a:pPr indent="0" marL="0">
              <a:buNone/>
            </a:pPr>
            <a:r>
              <a:rPr lang="en-US" sz="1200" dirty="0">
                <a:solidFill>
                  <a:srgbClr val="E85D04"/>
                </a:solidFill>
                <a:latin typeface="Calibri" pitchFamily="34" charset="0"/>
                <a:ea typeface="Calibri" pitchFamily="34" charset="-122"/>
                <a:cs typeface="Calibri" pitchFamily="34" charset="-120"/>
              </a:rPr>
              <a:t>All Farmers</a:t>
            </a:r>
            <a:endParaRPr lang="en-US" sz="1200" dirty="0"/>
          </a:p>
          <a:p>
            <a:pPr indent="0" marL="0">
              <a:buNone/>
            </a:pPr>
            <a:r>
              <a:rPr lang="en-US" sz="1200" dirty="0">
                <a:solidFill>
                  <a:srgbClr val="E85D04"/>
                </a:solidFill>
                <a:latin typeface="Calibri" pitchFamily="34" charset="0"/>
                <a:ea typeface="Calibri" pitchFamily="34" charset="-122"/>
                <a:cs typeface="Calibri" pitchFamily="34" charset="-120"/>
              </a:rPr>
              <a:t>(Feature Phones)</a:t>
            </a:r>
            <a:endParaRPr lang="en-US" sz="1200" dirty="0"/>
          </a:p>
        </p:txBody>
      </p:sp>
      <p:sp>
        <p:nvSpPr>
          <p:cNvPr id="18" name="Text 16"/>
          <p:cNvSpPr/>
          <p:nvPr/>
        </p:nvSpPr>
        <p:spPr>
          <a:xfrm>
            <a:off x="6263640" y="2651760"/>
            <a:ext cx="2377440" cy="914400"/>
          </a:xfrm>
          <a:prstGeom prst="rect">
            <a:avLst/>
          </a:prstGeom>
          <a:noFill/>
          <a:ln/>
        </p:spPr>
        <p:txBody>
          <a:bodyPr wrap="square" rtlCol="0" anchor="ctr"/>
          <a:lstStyle/>
          <a:p>
            <a:pPr indent="0" marL="0">
              <a:buNone/>
            </a:pPr>
            <a:r>
              <a:rPr lang="en-US" sz="1100" dirty="0">
                <a:solidFill>
                  <a:srgbClr val="666666"/>
                </a:solidFill>
                <a:latin typeface="Calibri" pitchFamily="34" charset="0"/>
                <a:ea typeface="Calibri" pitchFamily="34" charset="-122"/>
                <a:cs typeface="Calibri" pitchFamily="34" charset="-120"/>
              </a:rPr>
              <a:t>Works on any phone</a:t>
            </a:r>
            <a:endParaRPr lang="en-US" sz="1100" dirty="0"/>
          </a:p>
          <a:p>
            <a:pPr indent="0" marL="0">
              <a:buNone/>
            </a:pPr>
            <a:r>
              <a:rPr lang="en-US" sz="1100" dirty="0">
                <a:solidFill>
                  <a:srgbClr val="666666"/>
                </a:solidFill>
                <a:latin typeface="Calibri" pitchFamily="34" charset="0"/>
                <a:ea typeface="Calibri" pitchFamily="34" charset="-122"/>
                <a:cs typeface="Calibri" pitchFamily="34" charset="-120"/>
              </a:rPr>
              <a:t>No internet needed</a:t>
            </a:r>
            <a:endParaRPr lang="en-US" sz="1100" dirty="0"/>
          </a:p>
          <a:p>
            <a:pPr indent="0" marL="0">
              <a:buNone/>
            </a:pPr>
            <a:r>
              <a:rPr lang="en-US" sz="1100" dirty="0">
                <a:solidFill>
                  <a:srgbClr val="666666"/>
                </a:solidFill>
                <a:latin typeface="Calibri" pitchFamily="34" charset="0"/>
                <a:ea typeface="Calibri" pitchFamily="34" charset="-122"/>
                <a:cs typeface="Calibri" pitchFamily="34" charset="-120"/>
              </a:rPr>
              <a:t>Local languages</a:t>
            </a:r>
            <a:endParaRPr lang="en-US" sz="1100" dirty="0"/>
          </a:p>
        </p:txBody>
      </p:sp>
      <p:sp>
        <p:nvSpPr>
          <p:cNvPr id="19" name="Shape 17"/>
          <p:cNvSpPr/>
          <p:nvPr/>
        </p:nvSpPr>
        <p:spPr>
          <a:xfrm>
            <a:off x="457200" y="4114800"/>
            <a:ext cx="8229600" cy="868680"/>
          </a:xfrm>
          <a:prstGeom prst="rect">
            <a:avLst/>
          </a:prstGeom>
          <a:solidFill>
            <a:srgbClr val="1A1A2E"/>
          </a:solidFill>
          <a:ln/>
        </p:spPr>
        <p:txBody>
          <a:bodyPr/>
          <a:p/>
        </p:txBody>
      </p:sp>
      <p:sp>
        <p:nvSpPr>
          <p:cNvPr id="20" name="Text 18"/>
          <p:cNvSpPr/>
          <p:nvPr/>
        </p:nvSpPr>
        <p:spPr>
          <a:xfrm>
            <a:off x="640080" y="4160520"/>
            <a:ext cx="1371600" cy="320040"/>
          </a:xfrm>
          <a:prstGeom prst="rect">
            <a:avLst/>
          </a:prstGeom>
          <a:noFill/>
          <a:ln/>
        </p:spPr>
        <p:txBody>
          <a:bodyPr wrap="square" rtlCol="0" anchor="ctr"/>
          <a:lstStyle/>
          <a:p>
            <a:pPr indent="0" marL="0">
              <a:buNone/>
            </a:pPr>
            <a:r>
              <a:rPr lang="en-US" sz="1100" b="1" dirty="0">
                <a:solidFill>
                  <a:srgbClr val="E7E8D1"/>
                </a:solidFill>
                <a:latin typeface="Calibri" pitchFamily="34" charset="0"/>
                <a:ea typeface="Calibri" pitchFamily="34" charset="-122"/>
                <a:cs typeface="Calibri" pitchFamily="34" charset="-120"/>
              </a:rPr>
              <a:t>AI PIPELINE</a:t>
            </a:r>
            <a:endParaRPr lang="en-US" sz="1100" dirty="0"/>
          </a:p>
        </p:txBody>
      </p:sp>
      <p:sp>
        <p:nvSpPr>
          <p:cNvPr id="21" name="Text 19"/>
          <p:cNvSpPr/>
          <p:nvPr/>
        </p:nvSpPr>
        <p:spPr>
          <a:xfrm>
            <a:off x="548640" y="4434840"/>
            <a:ext cx="1463040"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Weather Data</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(ICPAC, ERA5)</a:t>
            </a:r>
            <a:endParaRPr lang="en-US" sz="1000" dirty="0"/>
          </a:p>
        </p:txBody>
      </p:sp>
      <p:sp>
        <p:nvSpPr>
          <p:cNvPr id="22" name="Text 20"/>
          <p:cNvSpPr/>
          <p:nvPr/>
        </p:nvSpPr>
        <p:spPr>
          <a:xfrm>
            <a:off x="2103120" y="4434840"/>
            <a:ext cx="365760" cy="457200"/>
          </a:xfrm>
          <a:prstGeom prst="rect">
            <a:avLst/>
          </a:prstGeom>
          <a:noFill/>
          <a:ln/>
        </p:spPr>
        <p:txBody>
          <a:bodyPr wrap="square" rtlCol="0" anchor="ctr"/>
          <a:lstStyle/>
          <a:p>
            <a:pPr algn="ctr" indent="0" marL="0">
              <a:buNone/>
            </a:pPr>
            <a:r>
              <a:rPr lang="en-US" sz="2000" dirty="0">
                <a:solidFill>
                  <a:srgbClr val="B85042"/>
                </a:solidFill>
                <a:latin typeface="Calibri" pitchFamily="34" charset="0"/>
                <a:ea typeface="Calibri" pitchFamily="34" charset="-122"/>
                <a:cs typeface="Calibri" pitchFamily="34" charset="-120"/>
              </a:rPr>
              <a:t>→</a:t>
            </a:r>
            <a:endParaRPr lang="en-US" sz="2000" dirty="0"/>
          </a:p>
        </p:txBody>
      </p:sp>
      <p:sp>
        <p:nvSpPr>
          <p:cNvPr id="23" name="Text 21"/>
          <p:cNvSpPr/>
          <p:nvPr/>
        </p:nvSpPr>
        <p:spPr>
          <a:xfrm>
            <a:off x="2468880" y="4434840"/>
            <a:ext cx="1463040"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ML Model</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(Random Forest + Physics)</a:t>
            </a:r>
            <a:endParaRPr lang="en-US" sz="1000" dirty="0"/>
          </a:p>
        </p:txBody>
      </p:sp>
      <p:sp>
        <p:nvSpPr>
          <p:cNvPr id="24" name="Text 22"/>
          <p:cNvSpPr/>
          <p:nvPr/>
        </p:nvSpPr>
        <p:spPr>
          <a:xfrm>
            <a:off x="4023360" y="4434840"/>
            <a:ext cx="365760" cy="457200"/>
          </a:xfrm>
          <a:prstGeom prst="rect">
            <a:avLst/>
          </a:prstGeom>
          <a:noFill/>
          <a:ln/>
        </p:spPr>
        <p:txBody>
          <a:bodyPr wrap="square" rtlCol="0" anchor="ctr"/>
          <a:lstStyle/>
          <a:p>
            <a:pPr algn="ctr" indent="0" marL="0">
              <a:buNone/>
            </a:pPr>
            <a:r>
              <a:rPr lang="en-US" sz="2000" dirty="0">
                <a:solidFill>
                  <a:srgbClr val="B85042"/>
                </a:solidFill>
                <a:latin typeface="Calibri" pitchFamily="34" charset="0"/>
                <a:ea typeface="Calibri" pitchFamily="34" charset="-122"/>
                <a:cs typeface="Calibri" pitchFamily="34" charset="-120"/>
              </a:rPr>
              <a:t>→</a:t>
            </a:r>
            <a:endParaRPr lang="en-US" sz="2000" dirty="0"/>
          </a:p>
        </p:txBody>
      </p:sp>
      <p:sp>
        <p:nvSpPr>
          <p:cNvPr id="25" name="Text 23"/>
          <p:cNvSpPr/>
          <p:nvPr/>
        </p:nvSpPr>
        <p:spPr>
          <a:xfrm>
            <a:off x="4389120" y="4434840"/>
            <a:ext cx="1463040"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WBGT</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Prediction</a:t>
            </a:r>
            <a:endParaRPr lang="en-US" sz="1000" dirty="0"/>
          </a:p>
        </p:txBody>
      </p:sp>
      <p:sp>
        <p:nvSpPr>
          <p:cNvPr id="26" name="Text 24"/>
          <p:cNvSpPr/>
          <p:nvPr/>
        </p:nvSpPr>
        <p:spPr>
          <a:xfrm>
            <a:off x="5943600" y="4434840"/>
            <a:ext cx="365760" cy="457200"/>
          </a:xfrm>
          <a:prstGeom prst="rect">
            <a:avLst/>
          </a:prstGeom>
          <a:noFill/>
          <a:ln/>
        </p:spPr>
        <p:txBody>
          <a:bodyPr wrap="square" rtlCol="0" anchor="ctr"/>
          <a:lstStyle/>
          <a:p>
            <a:pPr algn="ctr" indent="0" marL="0">
              <a:buNone/>
            </a:pPr>
            <a:r>
              <a:rPr lang="en-US" sz="2000" dirty="0">
                <a:solidFill>
                  <a:srgbClr val="B85042"/>
                </a:solidFill>
                <a:latin typeface="Calibri" pitchFamily="34" charset="0"/>
                <a:ea typeface="Calibri" pitchFamily="34" charset="-122"/>
                <a:cs typeface="Calibri" pitchFamily="34" charset="-120"/>
              </a:rPr>
              <a:t>→</a:t>
            </a:r>
            <a:endParaRPr lang="en-US" sz="2000" dirty="0"/>
          </a:p>
        </p:txBody>
      </p:sp>
      <p:sp>
        <p:nvSpPr>
          <p:cNvPr id="27" name="Text 25"/>
          <p:cNvSpPr/>
          <p:nvPr/>
        </p:nvSpPr>
        <p:spPr>
          <a:xfrm>
            <a:off x="6309360" y="4434840"/>
            <a:ext cx="1463040"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Work Schedule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Optimization</a:t>
            </a:r>
            <a:endParaRPr lang="en-US" sz="1000" dirty="0"/>
          </a:p>
        </p:txBody>
      </p:sp>
      <p:sp>
        <p:nvSpPr>
          <p:cNvPr id="28" name="Text 26"/>
          <p:cNvSpPr/>
          <p:nvPr/>
        </p:nvSpPr>
        <p:spPr>
          <a:xfrm>
            <a:off x="7863840" y="4434840"/>
            <a:ext cx="365760" cy="457200"/>
          </a:xfrm>
          <a:prstGeom prst="rect">
            <a:avLst/>
          </a:prstGeom>
          <a:noFill/>
          <a:ln/>
        </p:spPr>
        <p:txBody>
          <a:bodyPr wrap="square" rtlCol="0" anchor="ctr"/>
          <a:lstStyle/>
          <a:p>
            <a:pPr algn="ctr" indent="0" marL="0">
              <a:buNone/>
            </a:pPr>
            <a:r>
              <a:rPr lang="en-US" sz="2000" dirty="0">
                <a:solidFill>
                  <a:srgbClr val="B85042"/>
                </a:solidFill>
                <a:latin typeface="Calibri" pitchFamily="34" charset="0"/>
                <a:ea typeface="Calibri" pitchFamily="34" charset="-122"/>
                <a:cs typeface="Calibri" pitchFamily="34" charset="-120"/>
              </a:rPr>
              <a:t>→</a:t>
            </a:r>
            <a:endParaRPr lang="en-US" sz="2000" dirty="0"/>
          </a:p>
        </p:txBody>
      </p:sp>
      <p:sp>
        <p:nvSpPr>
          <p:cNvPr id="29" name="Text 27"/>
          <p:cNvSpPr/>
          <p:nvPr/>
        </p:nvSpPr>
        <p:spPr>
          <a:xfrm>
            <a:off x="8229600" y="4434840"/>
            <a:ext cx="1463040"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Alert</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Delivery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274320"/>
            <a:ext cx="5486400" cy="640080"/>
          </a:xfrm>
          <a:prstGeom prst="rect">
            <a:avLst/>
          </a:prstGeom>
          <a:noFill/>
          <a:ln/>
        </p:spPr>
        <p:txBody>
          <a:bodyPr wrap="square" rtlCol="0" anchor="ctr"/>
          <a:lstStyle/>
          <a:p>
            <a:pPr indent="0" marL="0">
              <a:buNone/>
            </a:pPr>
            <a:r>
              <a:rPr lang="en-US" sz="3600" b="1" dirty="0">
                <a:solidFill>
                  <a:srgbClr val="1A1A2E"/>
                </a:solidFill>
                <a:latin typeface="Georgia" pitchFamily="34" charset="0"/>
                <a:ea typeface="Georgia" pitchFamily="34" charset="-122"/>
                <a:cs typeface="Georgia" pitchFamily="34" charset="-120"/>
              </a:rPr>
              <a:t>Working MVP</a:t>
            </a:r>
            <a:endParaRPr lang="en-US" sz="3600" dirty="0"/>
          </a:p>
        </p:txBody>
      </p:sp>
      <p:sp>
        <p:nvSpPr>
          <p:cNvPr id="3" name="Shape 1"/>
          <p:cNvSpPr/>
          <p:nvPr/>
        </p:nvSpPr>
        <p:spPr>
          <a:xfrm>
            <a:off x="3200400" y="365760"/>
            <a:ext cx="731520" cy="365760"/>
          </a:xfrm>
          <a:prstGeom prst="rect">
            <a:avLst/>
          </a:prstGeom>
          <a:solidFill>
            <a:srgbClr val="2D6A4F"/>
          </a:solidFill>
          <a:ln/>
        </p:spPr>
        <p:txBody>
          <a:bodyPr/>
          <a:p/>
        </p:txBody>
      </p:sp>
      <p:sp>
        <p:nvSpPr>
          <p:cNvPr id="4" name="Text 2"/>
          <p:cNvSpPr/>
          <p:nvPr/>
        </p:nvSpPr>
        <p:spPr>
          <a:xfrm>
            <a:off x="3200400" y="365760"/>
            <a:ext cx="73152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LIVE</a:t>
            </a:r>
            <a:endParaRPr lang="en-US" sz="1200" dirty="0"/>
          </a:p>
        </p:txBody>
      </p:sp>
      <p:sp>
        <p:nvSpPr>
          <p:cNvPr id="5" name="Text 3"/>
          <p:cNvSpPr/>
          <p:nvPr/>
        </p:nvSpPr>
        <p:spPr>
          <a:xfrm>
            <a:off x="4114800" y="365760"/>
            <a:ext cx="2743200" cy="365760"/>
          </a:xfrm>
          <a:prstGeom prst="rect">
            <a:avLst/>
          </a:prstGeom>
          <a:noFill/>
          <a:ln/>
        </p:spPr>
        <p:txBody>
          <a:bodyPr wrap="square" rtlCol="0" anchor="ctr"/>
          <a:lstStyle/>
          <a:p>
            <a:pPr indent="0" marL="0">
              <a:buNone/>
            </a:pPr>
            <a:r>
              <a:rPr lang="en-US" sz="1400" dirty="0">
                <a:solidFill>
                  <a:srgbClr val="2E5A8C"/>
                </a:solidFill>
                <a:latin typeface="Calibri" pitchFamily="34" charset="0"/>
                <a:ea typeface="Calibri" pitchFamily="34" charset="-122"/>
                <a:cs typeface="Calibri" pitchFamily="34" charset="-120"/>
              </a:rPr>
              <a:t>heatshieldagri.vercel.app</a:t>
            </a:r>
            <a:endParaRPr lang="en-US" sz="1400" dirty="0"/>
          </a:p>
        </p:txBody>
      </p:sp>
      <p:sp>
        <p:nvSpPr>
          <p:cNvPr id="6" name="Shape 4"/>
          <p:cNvSpPr/>
          <p:nvPr/>
        </p:nvSpPr>
        <p:spPr>
          <a:xfrm>
            <a:off x="457200" y="1097280"/>
            <a:ext cx="4023360" cy="1737360"/>
          </a:xfrm>
          <a:prstGeom prst="rect">
            <a:avLst/>
          </a:prstGeom>
          <a:solidFill>
            <a:srgbClr val="FFFFFF"/>
          </a:solidFill>
          <a:ln/>
          <a:effectLst>
            <a:outerShdw sx="100000" sy="100000" kx="0" ky="0" algn="bl" rotWithShape="0" blurRad="101600" dist="38100" dir="8100000">
              <a:srgbClr val="000000">
                <a:alpha val="12000"/>
              </a:srgbClr>
            </a:outerShdw>
          </a:effectLst>
        </p:spPr>
        <p:txBody>
          <a:bodyPr/>
          <a:p/>
        </p:txBody>
      </p:sp>
      <p:sp>
        <p:nvSpPr>
          <p:cNvPr id="7" name="Shape 5"/>
          <p:cNvSpPr/>
          <p:nvPr/>
        </p:nvSpPr>
        <p:spPr>
          <a:xfrm>
            <a:off x="457200" y="1097280"/>
            <a:ext cx="73152" cy="1737360"/>
          </a:xfrm>
          <a:prstGeom prst="rect">
            <a:avLst/>
          </a:prstGeom>
          <a:solidFill>
            <a:srgbClr val="B85042"/>
          </a:solidFill>
          <a:ln/>
        </p:spPr>
        <p:txBody>
          <a:bodyPr/>
          <a:p/>
        </p:txBody>
      </p:sp>
      <p:sp>
        <p:nvSpPr>
          <p:cNvPr id="8" name="Text 6"/>
          <p:cNvSpPr/>
          <p:nvPr/>
        </p:nvSpPr>
        <p:spPr>
          <a:xfrm>
            <a:off x="685800" y="1234440"/>
            <a:ext cx="2743200" cy="365760"/>
          </a:xfrm>
          <a:prstGeom prst="rect">
            <a:avLst/>
          </a:prstGeom>
          <a:noFill/>
          <a:ln/>
        </p:spPr>
        <p:txBody>
          <a:bodyPr wrap="square" rtlCol="0" anchor="ctr"/>
          <a:lstStyle/>
          <a:p>
            <a:pPr indent="0" marL="0">
              <a:buNone/>
            </a:pPr>
            <a:r>
              <a:rPr lang="en-US" sz="1400" b="1" dirty="0">
                <a:solidFill>
                  <a:srgbClr val="1A1A2E"/>
                </a:solidFill>
                <a:latin typeface="Georgia" pitchFamily="34" charset="0"/>
                <a:ea typeface="Georgia" pitchFamily="34" charset="-122"/>
                <a:cs typeface="Georgia" pitchFamily="34" charset="-120"/>
              </a:rPr>
              <a:t>Real-Time WBGT Calculation</a:t>
            </a:r>
            <a:endParaRPr lang="en-US" sz="1400" dirty="0"/>
          </a:p>
        </p:txBody>
      </p:sp>
      <p:sp>
        <p:nvSpPr>
          <p:cNvPr id="9" name="Text 7"/>
          <p:cNvSpPr/>
          <p:nvPr/>
        </p:nvSpPr>
        <p:spPr>
          <a:xfrm>
            <a:off x="685800" y="1600200"/>
            <a:ext cx="2743200" cy="731520"/>
          </a:xfrm>
          <a:prstGeom prst="rect">
            <a:avLst/>
          </a:prstGeom>
          <a:noFill/>
          <a:ln/>
        </p:spPr>
        <p:txBody>
          <a:bodyPr wrap="square" rtlCol="0" anchor="ctr"/>
          <a:lstStyle/>
          <a:p>
            <a:pPr indent="0" marL="0">
              <a:buNone/>
            </a:pPr>
            <a:r>
              <a:rPr lang="en-US" sz="1100" dirty="0">
                <a:solidFill>
                  <a:srgbClr val="666666"/>
                </a:solidFill>
                <a:latin typeface="Calibri" pitchFamily="34" charset="0"/>
                <a:ea typeface="Calibri" pitchFamily="34" charset="-122"/>
                <a:cs typeface="Calibri" pitchFamily="34" charset="-120"/>
              </a:rPr>
              <a:t>ISO 7243 occupational heat standard</a:t>
            </a:r>
            <a:endParaRPr lang="en-US" sz="1100" dirty="0"/>
          </a:p>
          <a:p>
            <a:pPr indent="0" marL="0">
              <a:buNone/>
            </a:pPr>
            <a:r>
              <a:rPr lang="en-US" sz="1100" dirty="0">
                <a:solidFill>
                  <a:srgbClr val="666666"/>
                </a:solidFill>
                <a:latin typeface="Calibri" pitchFamily="34" charset="0"/>
                <a:ea typeface="Calibri" pitchFamily="34" charset="-122"/>
                <a:cs typeface="Calibri" pitchFamily="34" charset="-120"/>
              </a:rPr>
              <a:t>Accounts for humidity, wind, solar radiation</a:t>
            </a:r>
            <a:endParaRPr lang="en-US" sz="1100" dirty="0"/>
          </a:p>
        </p:txBody>
      </p:sp>
      <p:sp>
        <p:nvSpPr>
          <p:cNvPr id="10" name="Shape 8"/>
          <p:cNvSpPr/>
          <p:nvPr/>
        </p:nvSpPr>
        <p:spPr>
          <a:xfrm>
            <a:off x="3474720" y="1371600"/>
            <a:ext cx="868680" cy="1188720"/>
          </a:xfrm>
          <a:prstGeom prst="rect">
            <a:avLst/>
          </a:prstGeom>
          <a:solidFill>
            <a:srgbClr val="B85042">
              <a:alpha val="10000"/>
            </a:srgbClr>
          </a:solidFill>
          <a:ln/>
        </p:spPr>
        <p:txBody>
          <a:bodyPr/>
          <a:p/>
        </p:txBody>
      </p:sp>
      <p:sp>
        <p:nvSpPr>
          <p:cNvPr id="11" name="Text 9"/>
          <p:cNvSpPr/>
          <p:nvPr/>
        </p:nvSpPr>
        <p:spPr>
          <a:xfrm>
            <a:off x="3474720" y="1554480"/>
            <a:ext cx="868680" cy="457200"/>
          </a:xfrm>
          <a:prstGeom prst="rect">
            <a:avLst/>
          </a:prstGeom>
          <a:noFill/>
          <a:ln/>
        </p:spPr>
        <p:txBody>
          <a:bodyPr wrap="square" rtlCol="0" anchor="ctr"/>
          <a:lstStyle/>
          <a:p>
            <a:pPr algn="ctr" indent="0" marL="0">
              <a:buNone/>
            </a:pPr>
            <a:r>
              <a:rPr lang="en-US" sz="1600" b="1" dirty="0">
                <a:solidFill>
                  <a:srgbClr val="B85042"/>
                </a:solidFill>
                <a:latin typeface="Georgia" pitchFamily="34" charset="0"/>
                <a:ea typeface="Georgia" pitchFamily="34" charset="-122"/>
                <a:cs typeface="Georgia" pitchFamily="34" charset="-120"/>
              </a:rPr>
              <a:t>28.0°C</a:t>
            </a:r>
            <a:endParaRPr lang="en-US" sz="1600" dirty="0"/>
          </a:p>
        </p:txBody>
      </p:sp>
      <p:sp>
        <p:nvSpPr>
          <p:cNvPr id="12" name="Text 10"/>
          <p:cNvSpPr/>
          <p:nvPr/>
        </p:nvSpPr>
        <p:spPr>
          <a:xfrm>
            <a:off x="3474720" y="2011680"/>
            <a:ext cx="868680" cy="457200"/>
          </a:xfrm>
          <a:prstGeom prst="rect">
            <a:avLst/>
          </a:prstGeom>
          <a:noFill/>
          <a:ln/>
        </p:spPr>
        <p:txBody>
          <a:bodyPr wrap="square" rtlCol="0" anchor="ctr"/>
          <a:lstStyle/>
          <a:p>
            <a:pPr algn="ctr" indent="0" marL="0">
              <a:buNone/>
            </a:pPr>
            <a:r>
              <a:rPr lang="en-US" sz="800" dirty="0">
                <a:solidFill>
                  <a:srgbClr val="666666"/>
                </a:solidFill>
                <a:latin typeface="Calibri" pitchFamily="34" charset="0"/>
                <a:ea typeface="Calibri" pitchFamily="34" charset="-122"/>
                <a:cs typeface="Calibri" pitchFamily="34" charset="-120"/>
              </a:rPr>
              <a:t>Current WBGT</a:t>
            </a:r>
            <a:endParaRPr lang="en-US" sz="800" dirty="0"/>
          </a:p>
        </p:txBody>
      </p:sp>
      <p:sp>
        <p:nvSpPr>
          <p:cNvPr id="13" name="Shape 11"/>
          <p:cNvSpPr/>
          <p:nvPr/>
        </p:nvSpPr>
        <p:spPr>
          <a:xfrm>
            <a:off x="4663440" y="1097280"/>
            <a:ext cx="4023360" cy="1737360"/>
          </a:xfrm>
          <a:prstGeom prst="rect">
            <a:avLst/>
          </a:prstGeom>
          <a:solidFill>
            <a:srgbClr val="FFFFFF"/>
          </a:solidFill>
          <a:ln/>
          <a:effectLst>
            <a:outerShdw sx="100000" sy="100000" kx="0" ky="0" algn="bl" rotWithShape="0" blurRad="101600" dist="38100" dir="8100000">
              <a:srgbClr val="000000">
                <a:alpha val="12000"/>
              </a:srgbClr>
            </a:outerShdw>
          </a:effectLst>
        </p:spPr>
        <p:txBody>
          <a:bodyPr/>
          <a:p/>
        </p:txBody>
      </p:sp>
      <p:sp>
        <p:nvSpPr>
          <p:cNvPr id="14" name="Shape 12"/>
          <p:cNvSpPr/>
          <p:nvPr/>
        </p:nvSpPr>
        <p:spPr>
          <a:xfrm>
            <a:off x="4663440" y="1097280"/>
            <a:ext cx="73152" cy="1737360"/>
          </a:xfrm>
          <a:prstGeom prst="rect">
            <a:avLst/>
          </a:prstGeom>
          <a:solidFill>
            <a:srgbClr val="B85042"/>
          </a:solidFill>
          <a:ln/>
        </p:spPr>
        <p:txBody>
          <a:bodyPr/>
          <a:p/>
        </p:txBody>
      </p:sp>
      <p:sp>
        <p:nvSpPr>
          <p:cNvPr id="15" name="Text 13"/>
          <p:cNvSpPr/>
          <p:nvPr/>
        </p:nvSpPr>
        <p:spPr>
          <a:xfrm>
            <a:off x="4892040" y="1234440"/>
            <a:ext cx="2743200" cy="365760"/>
          </a:xfrm>
          <a:prstGeom prst="rect">
            <a:avLst/>
          </a:prstGeom>
          <a:noFill/>
          <a:ln/>
        </p:spPr>
        <p:txBody>
          <a:bodyPr wrap="square" rtlCol="0" anchor="ctr"/>
          <a:lstStyle/>
          <a:p>
            <a:pPr indent="0" marL="0">
              <a:buNone/>
            </a:pPr>
            <a:r>
              <a:rPr lang="en-US" sz="1400" b="1" dirty="0">
                <a:solidFill>
                  <a:srgbClr val="1A1A2E"/>
                </a:solidFill>
                <a:latin typeface="Georgia" pitchFamily="34" charset="0"/>
                <a:ea typeface="Georgia" pitchFamily="34" charset="-122"/>
                <a:cs typeface="Georgia" pitchFamily="34" charset="-120"/>
              </a:rPr>
              <a:t>72-Hour Forecasts</a:t>
            </a:r>
            <a:endParaRPr lang="en-US" sz="1400" dirty="0"/>
          </a:p>
        </p:txBody>
      </p:sp>
      <p:sp>
        <p:nvSpPr>
          <p:cNvPr id="16" name="Text 14"/>
          <p:cNvSpPr/>
          <p:nvPr/>
        </p:nvSpPr>
        <p:spPr>
          <a:xfrm>
            <a:off x="4892040" y="1600200"/>
            <a:ext cx="2743200" cy="731520"/>
          </a:xfrm>
          <a:prstGeom prst="rect">
            <a:avLst/>
          </a:prstGeom>
          <a:noFill/>
          <a:ln/>
        </p:spPr>
        <p:txBody>
          <a:bodyPr wrap="square" rtlCol="0" anchor="ctr"/>
          <a:lstStyle/>
          <a:p>
            <a:pPr indent="0" marL="0">
              <a:buNone/>
            </a:pPr>
            <a:r>
              <a:rPr lang="en-US" sz="1100" dirty="0">
                <a:solidFill>
                  <a:srgbClr val="666666"/>
                </a:solidFill>
                <a:latin typeface="Calibri" pitchFamily="34" charset="0"/>
                <a:ea typeface="Calibri" pitchFamily="34" charset="-122"/>
                <a:cs typeface="Calibri" pitchFamily="34" charset="-120"/>
              </a:rPr>
              <a:t>Hourly predictions with risk levels</a:t>
            </a:r>
            <a:endParaRPr lang="en-US" sz="1100" dirty="0"/>
          </a:p>
          <a:p>
            <a:pPr indent="0" marL="0">
              <a:buNone/>
            </a:pPr>
            <a:r>
              <a:rPr lang="en-US" sz="1100" dirty="0">
                <a:solidFill>
                  <a:srgbClr val="666666"/>
                </a:solidFill>
                <a:latin typeface="Calibri" pitchFamily="34" charset="0"/>
                <a:ea typeface="Calibri" pitchFamily="34" charset="-122"/>
                <a:cs typeface="Calibri" pitchFamily="34" charset="-120"/>
              </a:rPr>
              <a:t>Confidence intervals for uncertainty</a:t>
            </a:r>
            <a:endParaRPr lang="en-US" sz="1100" dirty="0"/>
          </a:p>
        </p:txBody>
      </p:sp>
      <p:sp>
        <p:nvSpPr>
          <p:cNvPr id="17" name="Shape 15"/>
          <p:cNvSpPr/>
          <p:nvPr/>
        </p:nvSpPr>
        <p:spPr>
          <a:xfrm>
            <a:off x="7680960" y="1371600"/>
            <a:ext cx="868680" cy="1188720"/>
          </a:xfrm>
          <a:prstGeom prst="rect">
            <a:avLst/>
          </a:prstGeom>
          <a:solidFill>
            <a:srgbClr val="B85042">
              <a:alpha val="10000"/>
            </a:srgbClr>
          </a:solidFill>
          <a:ln/>
        </p:spPr>
        <p:txBody>
          <a:bodyPr/>
          <a:p/>
        </p:txBody>
      </p:sp>
      <p:sp>
        <p:nvSpPr>
          <p:cNvPr id="18" name="Text 16"/>
          <p:cNvSpPr/>
          <p:nvPr/>
        </p:nvSpPr>
        <p:spPr>
          <a:xfrm>
            <a:off x="7680960" y="1554480"/>
            <a:ext cx="868680" cy="457200"/>
          </a:xfrm>
          <a:prstGeom prst="rect">
            <a:avLst/>
          </a:prstGeom>
          <a:noFill/>
          <a:ln/>
        </p:spPr>
        <p:txBody>
          <a:bodyPr wrap="square" rtlCol="0" anchor="ctr"/>
          <a:lstStyle/>
          <a:p>
            <a:pPr algn="ctr" indent="0" marL="0">
              <a:buNone/>
            </a:pPr>
            <a:r>
              <a:rPr lang="en-US" sz="1600" b="1" dirty="0">
                <a:solidFill>
                  <a:srgbClr val="B85042"/>
                </a:solidFill>
                <a:latin typeface="Georgia" pitchFamily="34" charset="0"/>
                <a:ea typeface="Georgia" pitchFamily="34" charset="-122"/>
                <a:cs typeface="Georgia" pitchFamily="34" charset="-120"/>
              </a:rPr>
              <a:t>72h</a:t>
            </a:r>
            <a:endParaRPr lang="en-US" sz="1600" dirty="0"/>
          </a:p>
        </p:txBody>
      </p:sp>
      <p:sp>
        <p:nvSpPr>
          <p:cNvPr id="19" name="Text 17"/>
          <p:cNvSpPr/>
          <p:nvPr/>
        </p:nvSpPr>
        <p:spPr>
          <a:xfrm>
            <a:off x="7680960" y="2011680"/>
            <a:ext cx="868680" cy="457200"/>
          </a:xfrm>
          <a:prstGeom prst="rect">
            <a:avLst/>
          </a:prstGeom>
          <a:noFill/>
          <a:ln/>
        </p:spPr>
        <p:txBody>
          <a:bodyPr wrap="square" rtlCol="0" anchor="ctr"/>
          <a:lstStyle/>
          <a:p>
            <a:pPr algn="ctr" indent="0" marL="0">
              <a:buNone/>
            </a:pPr>
            <a:r>
              <a:rPr lang="en-US" sz="800" dirty="0">
                <a:solidFill>
                  <a:srgbClr val="666666"/>
                </a:solidFill>
                <a:latin typeface="Calibri" pitchFamily="34" charset="0"/>
                <a:ea typeface="Calibri" pitchFamily="34" charset="-122"/>
                <a:cs typeface="Calibri" pitchFamily="34" charset="-120"/>
              </a:rPr>
              <a:t>Forecast horizon</a:t>
            </a:r>
            <a:endParaRPr lang="en-US" sz="800" dirty="0"/>
          </a:p>
        </p:txBody>
      </p:sp>
      <p:sp>
        <p:nvSpPr>
          <p:cNvPr id="20" name="Shape 18"/>
          <p:cNvSpPr/>
          <p:nvPr/>
        </p:nvSpPr>
        <p:spPr>
          <a:xfrm>
            <a:off x="457200" y="3017520"/>
            <a:ext cx="4023360" cy="1737360"/>
          </a:xfrm>
          <a:prstGeom prst="rect">
            <a:avLst/>
          </a:prstGeom>
          <a:solidFill>
            <a:srgbClr val="FFFFFF"/>
          </a:solidFill>
          <a:ln/>
          <a:effectLst>
            <a:outerShdw sx="100000" sy="100000" kx="0" ky="0" algn="bl" rotWithShape="0" blurRad="101600" dist="38100" dir="8100000">
              <a:srgbClr val="000000">
                <a:alpha val="12000"/>
              </a:srgbClr>
            </a:outerShdw>
          </a:effectLst>
        </p:spPr>
        <p:txBody>
          <a:bodyPr/>
          <a:p/>
        </p:txBody>
      </p:sp>
      <p:sp>
        <p:nvSpPr>
          <p:cNvPr id="21" name="Shape 19"/>
          <p:cNvSpPr/>
          <p:nvPr/>
        </p:nvSpPr>
        <p:spPr>
          <a:xfrm>
            <a:off x="457200" y="3017520"/>
            <a:ext cx="73152" cy="1737360"/>
          </a:xfrm>
          <a:prstGeom prst="rect">
            <a:avLst/>
          </a:prstGeom>
          <a:solidFill>
            <a:srgbClr val="B85042"/>
          </a:solidFill>
          <a:ln/>
        </p:spPr>
        <p:txBody>
          <a:bodyPr/>
          <a:p/>
        </p:txBody>
      </p:sp>
      <p:sp>
        <p:nvSpPr>
          <p:cNvPr id="22" name="Text 20"/>
          <p:cNvSpPr/>
          <p:nvPr/>
        </p:nvSpPr>
        <p:spPr>
          <a:xfrm>
            <a:off x="685800" y="3154680"/>
            <a:ext cx="2743200" cy="365760"/>
          </a:xfrm>
          <a:prstGeom prst="rect">
            <a:avLst/>
          </a:prstGeom>
          <a:noFill/>
          <a:ln/>
        </p:spPr>
        <p:txBody>
          <a:bodyPr wrap="square" rtlCol="0" anchor="ctr"/>
          <a:lstStyle/>
          <a:p>
            <a:pPr indent="0" marL="0">
              <a:buNone/>
            </a:pPr>
            <a:r>
              <a:rPr lang="en-US" sz="1400" b="1" dirty="0">
                <a:solidFill>
                  <a:srgbClr val="1A1A2E"/>
                </a:solidFill>
                <a:latin typeface="Georgia" pitchFamily="34" charset="0"/>
                <a:ea typeface="Georgia" pitchFamily="34" charset="-122"/>
                <a:cs typeface="Georgia" pitchFamily="34" charset="-120"/>
              </a:rPr>
              <a:t>AI Work Schedule Optimizer</a:t>
            </a:r>
            <a:endParaRPr lang="en-US" sz="1400" dirty="0"/>
          </a:p>
        </p:txBody>
      </p:sp>
      <p:sp>
        <p:nvSpPr>
          <p:cNvPr id="23" name="Text 21"/>
          <p:cNvSpPr/>
          <p:nvPr/>
        </p:nvSpPr>
        <p:spPr>
          <a:xfrm>
            <a:off x="685800" y="3520440"/>
            <a:ext cx="2743200" cy="731520"/>
          </a:xfrm>
          <a:prstGeom prst="rect">
            <a:avLst/>
          </a:prstGeom>
          <a:noFill/>
          <a:ln/>
        </p:spPr>
        <p:txBody>
          <a:bodyPr wrap="square" rtlCol="0" anchor="ctr"/>
          <a:lstStyle/>
          <a:p>
            <a:pPr indent="0" marL="0">
              <a:buNone/>
            </a:pPr>
            <a:r>
              <a:rPr lang="en-US" sz="1100" dirty="0">
                <a:solidFill>
                  <a:srgbClr val="666666"/>
                </a:solidFill>
                <a:latin typeface="Calibri" pitchFamily="34" charset="0"/>
                <a:ea typeface="Calibri" pitchFamily="34" charset="-122"/>
                <a:cs typeface="Calibri" pitchFamily="34" charset="-120"/>
              </a:rPr>
              <a:t>Identifies safe work windows</a:t>
            </a:r>
            <a:endParaRPr lang="en-US" sz="1100" dirty="0"/>
          </a:p>
          <a:p>
            <a:pPr indent="0" marL="0">
              <a:buNone/>
            </a:pPr>
            <a:r>
              <a:rPr lang="en-US" sz="1100" dirty="0">
                <a:solidFill>
                  <a:srgbClr val="666666"/>
                </a:solidFill>
                <a:latin typeface="Calibri" pitchFamily="34" charset="0"/>
                <a:ea typeface="Calibri" pitchFamily="34" charset="-122"/>
                <a:cs typeface="Calibri" pitchFamily="34" charset="-120"/>
              </a:rPr>
              <a:t>Maximizes productivity while protecting health</a:t>
            </a:r>
            <a:endParaRPr lang="en-US" sz="1100" dirty="0"/>
          </a:p>
        </p:txBody>
      </p:sp>
      <p:sp>
        <p:nvSpPr>
          <p:cNvPr id="24" name="Shape 22"/>
          <p:cNvSpPr/>
          <p:nvPr/>
        </p:nvSpPr>
        <p:spPr>
          <a:xfrm>
            <a:off x="3474720" y="3291840"/>
            <a:ext cx="868680" cy="1188720"/>
          </a:xfrm>
          <a:prstGeom prst="rect">
            <a:avLst/>
          </a:prstGeom>
          <a:solidFill>
            <a:srgbClr val="B85042">
              <a:alpha val="10000"/>
            </a:srgbClr>
          </a:solidFill>
          <a:ln/>
        </p:spPr>
        <p:txBody>
          <a:bodyPr/>
          <a:p/>
        </p:txBody>
      </p:sp>
      <p:sp>
        <p:nvSpPr>
          <p:cNvPr id="25" name="Text 23"/>
          <p:cNvSpPr/>
          <p:nvPr/>
        </p:nvSpPr>
        <p:spPr>
          <a:xfrm>
            <a:off x="3474720" y="3474720"/>
            <a:ext cx="868680" cy="457200"/>
          </a:xfrm>
          <a:prstGeom prst="rect">
            <a:avLst/>
          </a:prstGeom>
          <a:noFill/>
          <a:ln/>
        </p:spPr>
        <p:txBody>
          <a:bodyPr wrap="square" rtlCol="0" anchor="ctr"/>
          <a:lstStyle/>
          <a:p>
            <a:pPr algn="ctr" indent="0" marL="0">
              <a:buNone/>
            </a:pPr>
            <a:r>
              <a:rPr lang="en-US" sz="1600" b="1" dirty="0">
                <a:solidFill>
                  <a:srgbClr val="B85042"/>
                </a:solidFill>
                <a:latin typeface="Georgia" pitchFamily="34" charset="0"/>
                <a:ea typeface="Georgia" pitchFamily="34" charset="-122"/>
                <a:cs typeface="Georgia" pitchFamily="34" charset="-120"/>
              </a:rPr>
              <a:t>5-10am</a:t>
            </a:r>
            <a:endParaRPr lang="en-US" sz="1600" dirty="0"/>
          </a:p>
        </p:txBody>
      </p:sp>
      <p:sp>
        <p:nvSpPr>
          <p:cNvPr id="26" name="Text 24"/>
          <p:cNvSpPr/>
          <p:nvPr/>
        </p:nvSpPr>
        <p:spPr>
          <a:xfrm>
            <a:off x="3474720" y="3931920"/>
            <a:ext cx="868680" cy="457200"/>
          </a:xfrm>
          <a:prstGeom prst="rect">
            <a:avLst/>
          </a:prstGeom>
          <a:noFill/>
          <a:ln/>
        </p:spPr>
        <p:txBody>
          <a:bodyPr wrap="square" rtlCol="0" anchor="ctr"/>
          <a:lstStyle/>
          <a:p>
            <a:pPr algn="ctr" indent="0" marL="0">
              <a:buNone/>
            </a:pPr>
            <a:r>
              <a:rPr lang="en-US" sz="800" dirty="0">
                <a:solidFill>
                  <a:srgbClr val="666666"/>
                </a:solidFill>
                <a:latin typeface="Calibri" pitchFamily="34" charset="0"/>
                <a:ea typeface="Calibri" pitchFamily="34" charset="-122"/>
                <a:cs typeface="Calibri" pitchFamily="34" charset="-120"/>
              </a:rPr>
              <a:t>Safe window</a:t>
            </a:r>
            <a:endParaRPr lang="en-US" sz="800" dirty="0"/>
          </a:p>
        </p:txBody>
      </p:sp>
      <p:sp>
        <p:nvSpPr>
          <p:cNvPr id="27" name="Shape 25"/>
          <p:cNvSpPr/>
          <p:nvPr/>
        </p:nvSpPr>
        <p:spPr>
          <a:xfrm>
            <a:off x="4663440" y="3017520"/>
            <a:ext cx="4023360" cy="1737360"/>
          </a:xfrm>
          <a:prstGeom prst="rect">
            <a:avLst/>
          </a:prstGeom>
          <a:solidFill>
            <a:srgbClr val="FFFFFF"/>
          </a:solidFill>
          <a:ln/>
          <a:effectLst>
            <a:outerShdw sx="100000" sy="100000" kx="0" ky="0" algn="bl" rotWithShape="0" blurRad="101600" dist="38100" dir="8100000">
              <a:srgbClr val="000000">
                <a:alpha val="12000"/>
              </a:srgbClr>
            </a:outerShdw>
          </a:effectLst>
        </p:spPr>
        <p:txBody>
          <a:bodyPr/>
          <a:p/>
        </p:txBody>
      </p:sp>
      <p:sp>
        <p:nvSpPr>
          <p:cNvPr id="28" name="Shape 26"/>
          <p:cNvSpPr/>
          <p:nvPr/>
        </p:nvSpPr>
        <p:spPr>
          <a:xfrm>
            <a:off x="4663440" y="3017520"/>
            <a:ext cx="73152" cy="1737360"/>
          </a:xfrm>
          <a:prstGeom prst="rect">
            <a:avLst/>
          </a:prstGeom>
          <a:solidFill>
            <a:srgbClr val="B85042"/>
          </a:solidFill>
          <a:ln/>
        </p:spPr>
        <p:txBody>
          <a:bodyPr/>
          <a:p/>
        </p:txBody>
      </p:sp>
      <p:sp>
        <p:nvSpPr>
          <p:cNvPr id="29" name="Text 27"/>
          <p:cNvSpPr/>
          <p:nvPr/>
        </p:nvSpPr>
        <p:spPr>
          <a:xfrm>
            <a:off x="4892040" y="3154680"/>
            <a:ext cx="2743200" cy="365760"/>
          </a:xfrm>
          <a:prstGeom prst="rect">
            <a:avLst/>
          </a:prstGeom>
          <a:noFill/>
          <a:ln/>
        </p:spPr>
        <p:txBody>
          <a:bodyPr wrap="square" rtlCol="0" anchor="ctr"/>
          <a:lstStyle/>
          <a:p>
            <a:pPr indent="0" marL="0">
              <a:buNone/>
            </a:pPr>
            <a:r>
              <a:rPr lang="en-US" sz="1400" b="1" dirty="0">
                <a:solidFill>
                  <a:srgbClr val="1A1A2E"/>
                </a:solidFill>
                <a:latin typeface="Georgia" pitchFamily="34" charset="0"/>
                <a:ea typeface="Georgia" pitchFamily="34" charset="-122"/>
                <a:cs typeface="Georgia" pitchFamily="34" charset="-120"/>
              </a:rPr>
              <a:t>District Heat Mapping</a:t>
            </a:r>
            <a:endParaRPr lang="en-US" sz="1400" dirty="0"/>
          </a:p>
        </p:txBody>
      </p:sp>
      <p:sp>
        <p:nvSpPr>
          <p:cNvPr id="30" name="Text 28"/>
          <p:cNvSpPr/>
          <p:nvPr/>
        </p:nvSpPr>
        <p:spPr>
          <a:xfrm>
            <a:off x="4892040" y="3520440"/>
            <a:ext cx="2743200" cy="731520"/>
          </a:xfrm>
          <a:prstGeom prst="rect">
            <a:avLst/>
          </a:prstGeom>
          <a:noFill/>
          <a:ln/>
        </p:spPr>
        <p:txBody>
          <a:bodyPr wrap="square" rtlCol="0" anchor="ctr"/>
          <a:lstStyle/>
          <a:p>
            <a:pPr indent="0" marL="0">
              <a:buNone/>
            </a:pPr>
            <a:r>
              <a:rPr lang="en-US" sz="1100" dirty="0">
                <a:solidFill>
                  <a:srgbClr val="666666"/>
                </a:solidFill>
                <a:latin typeface="Calibri" pitchFamily="34" charset="0"/>
                <a:ea typeface="Calibri" pitchFamily="34" charset="-122"/>
                <a:cs typeface="Calibri" pitchFamily="34" charset="-120"/>
              </a:rPr>
              <a:t>12 Uganda districts covered</a:t>
            </a:r>
            <a:endParaRPr lang="en-US" sz="1100" dirty="0"/>
          </a:p>
          <a:p>
            <a:pPr indent="0" marL="0">
              <a:buNone/>
            </a:pPr>
            <a:r>
              <a:rPr lang="en-US" sz="1100" dirty="0">
                <a:solidFill>
                  <a:srgbClr val="666666"/>
                </a:solidFill>
                <a:latin typeface="Calibri" pitchFamily="34" charset="0"/>
                <a:ea typeface="Calibri" pitchFamily="34" charset="-122"/>
                <a:cs typeface="Calibri" pitchFamily="34" charset="-120"/>
              </a:rPr>
              <a:t>Spatial interpolation (IDW algorithm)</a:t>
            </a:r>
            <a:endParaRPr lang="en-US" sz="1100" dirty="0"/>
          </a:p>
        </p:txBody>
      </p:sp>
      <p:sp>
        <p:nvSpPr>
          <p:cNvPr id="31" name="Shape 29"/>
          <p:cNvSpPr/>
          <p:nvPr/>
        </p:nvSpPr>
        <p:spPr>
          <a:xfrm>
            <a:off x="7680960" y="3291840"/>
            <a:ext cx="868680" cy="1188720"/>
          </a:xfrm>
          <a:prstGeom prst="rect">
            <a:avLst/>
          </a:prstGeom>
          <a:solidFill>
            <a:srgbClr val="B85042">
              <a:alpha val="10000"/>
            </a:srgbClr>
          </a:solidFill>
          <a:ln/>
        </p:spPr>
        <p:txBody>
          <a:bodyPr/>
          <a:p/>
        </p:txBody>
      </p:sp>
      <p:sp>
        <p:nvSpPr>
          <p:cNvPr id="32" name="Text 30"/>
          <p:cNvSpPr/>
          <p:nvPr/>
        </p:nvSpPr>
        <p:spPr>
          <a:xfrm>
            <a:off x="7680960" y="3474720"/>
            <a:ext cx="868680" cy="457200"/>
          </a:xfrm>
          <a:prstGeom prst="rect">
            <a:avLst/>
          </a:prstGeom>
          <a:noFill/>
          <a:ln/>
        </p:spPr>
        <p:txBody>
          <a:bodyPr wrap="square" rtlCol="0" anchor="ctr"/>
          <a:lstStyle/>
          <a:p>
            <a:pPr algn="ctr" indent="0" marL="0">
              <a:buNone/>
            </a:pPr>
            <a:r>
              <a:rPr lang="en-US" sz="1600" b="1" dirty="0">
                <a:solidFill>
                  <a:srgbClr val="B85042"/>
                </a:solidFill>
                <a:latin typeface="Georgia" pitchFamily="34" charset="0"/>
                <a:ea typeface="Georgia" pitchFamily="34" charset="-122"/>
                <a:cs typeface="Georgia" pitchFamily="34" charset="-120"/>
              </a:rPr>
              <a:t>5km</a:t>
            </a:r>
            <a:endParaRPr lang="en-US" sz="1600" dirty="0"/>
          </a:p>
        </p:txBody>
      </p:sp>
      <p:sp>
        <p:nvSpPr>
          <p:cNvPr id="33" name="Text 31"/>
          <p:cNvSpPr/>
          <p:nvPr/>
        </p:nvSpPr>
        <p:spPr>
          <a:xfrm>
            <a:off x="7680960" y="3931920"/>
            <a:ext cx="868680" cy="457200"/>
          </a:xfrm>
          <a:prstGeom prst="rect">
            <a:avLst/>
          </a:prstGeom>
          <a:noFill/>
          <a:ln/>
        </p:spPr>
        <p:txBody>
          <a:bodyPr wrap="square" rtlCol="0" anchor="ctr"/>
          <a:lstStyle/>
          <a:p>
            <a:pPr algn="ctr" indent="0" marL="0">
              <a:buNone/>
            </a:pPr>
            <a:r>
              <a:rPr lang="en-US" sz="800" dirty="0">
                <a:solidFill>
                  <a:srgbClr val="666666"/>
                </a:solidFill>
                <a:latin typeface="Calibri" pitchFamily="34" charset="0"/>
                <a:ea typeface="Calibri" pitchFamily="34" charset="-122"/>
                <a:cs typeface="Calibri" pitchFamily="34" charset="-120"/>
              </a:rPr>
              <a:t>Resolution</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3600" b="1" dirty="0">
                <a:solidFill>
                  <a:srgbClr val="1A1A2E"/>
                </a:solidFill>
                <a:latin typeface="Georgia" pitchFamily="34" charset="0"/>
                <a:ea typeface="Georgia" pitchFamily="34" charset="-122"/>
                <a:cs typeface="Georgia" pitchFamily="34" charset="-120"/>
              </a:rPr>
              <a:t>AI &amp; Technology</a:t>
            </a:r>
            <a:endParaRPr lang="en-US" sz="3600" dirty="0"/>
          </a:p>
        </p:txBody>
      </p:sp>
      <p:sp>
        <p:nvSpPr>
          <p:cNvPr id="3" name="Shape 1"/>
          <p:cNvSpPr/>
          <p:nvPr/>
        </p:nvSpPr>
        <p:spPr>
          <a:xfrm>
            <a:off x="457200" y="1005840"/>
            <a:ext cx="4114800" cy="3840480"/>
          </a:xfrm>
          <a:prstGeom prst="rect">
            <a:avLst/>
          </a:prstGeom>
          <a:solidFill>
            <a:srgbClr val="F5F5F5"/>
          </a:solidFill>
          <a:ln/>
          <a:effectLst>
            <a:outerShdw sx="100000" sy="100000" kx="0" ky="0" algn="bl" rotWithShape="0" blurRad="101600" dist="38100" dir="8100000">
              <a:srgbClr val="000000">
                <a:alpha val="12000"/>
              </a:srgbClr>
            </a:outerShdw>
          </a:effectLst>
        </p:spPr>
        <p:txBody>
          <a:bodyPr/>
          <a:p/>
        </p:txBody>
      </p:sp>
      <p:sp>
        <p:nvSpPr>
          <p:cNvPr id="4" name="Text 2"/>
          <p:cNvSpPr/>
          <p:nvPr/>
        </p:nvSpPr>
        <p:spPr>
          <a:xfrm>
            <a:off x="640080" y="1143000"/>
            <a:ext cx="3749040" cy="365760"/>
          </a:xfrm>
          <a:prstGeom prst="rect">
            <a:avLst/>
          </a:prstGeom>
          <a:noFill/>
          <a:ln/>
        </p:spPr>
        <p:txBody>
          <a:bodyPr wrap="square" rtlCol="0" anchor="ctr"/>
          <a:lstStyle/>
          <a:p>
            <a:pPr indent="0" marL="0">
              <a:buNone/>
            </a:pPr>
            <a:r>
              <a:rPr lang="en-US" sz="1600" b="1" dirty="0">
                <a:solidFill>
                  <a:srgbClr val="1A1A2E"/>
                </a:solidFill>
                <a:latin typeface="Georgia" pitchFamily="34" charset="0"/>
                <a:ea typeface="Georgia" pitchFamily="34" charset="-122"/>
                <a:cs typeface="Georgia" pitchFamily="34" charset="-120"/>
              </a:rPr>
              <a:t>ML Prediction Engine</a:t>
            </a:r>
            <a:endParaRPr lang="en-US" sz="1600" dirty="0"/>
          </a:p>
        </p:txBody>
      </p:sp>
      <p:sp>
        <p:nvSpPr>
          <p:cNvPr id="5" name="Shape 3"/>
          <p:cNvSpPr/>
          <p:nvPr/>
        </p:nvSpPr>
        <p:spPr>
          <a:xfrm>
            <a:off x="640080" y="1600200"/>
            <a:ext cx="3749040" cy="502920"/>
          </a:xfrm>
          <a:prstGeom prst="rect">
            <a:avLst/>
          </a:prstGeom>
          <a:solidFill>
            <a:srgbClr val="2E5A8C">
              <a:alpha val="15000"/>
            </a:srgbClr>
          </a:solidFill>
          <a:ln w="12700">
            <a:solidFill>
              <a:srgbClr val="2E5A8C"/>
            </a:solidFill>
            <a:prstDash val="solid"/>
          </a:ln>
        </p:spPr>
        <p:txBody>
          <a:bodyPr/>
          <a:p/>
        </p:txBody>
      </p:sp>
      <p:sp>
        <p:nvSpPr>
          <p:cNvPr id="6" name="Text 4"/>
          <p:cNvSpPr/>
          <p:nvPr/>
        </p:nvSpPr>
        <p:spPr>
          <a:xfrm>
            <a:off x="777240" y="1645920"/>
            <a:ext cx="1828800" cy="228600"/>
          </a:xfrm>
          <a:prstGeom prst="rect">
            <a:avLst/>
          </a:prstGeom>
          <a:noFill/>
          <a:ln/>
        </p:spPr>
        <p:txBody>
          <a:bodyPr wrap="square" rtlCol="0" anchor="ctr"/>
          <a:lstStyle/>
          <a:p>
            <a:pPr indent="0" marL="0">
              <a:buNone/>
            </a:pPr>
            <a:r>
              <a:rPr lang="en-US" sz="1100" b="1" dirty="0">
                <a:solidFill>
                  <a:srgbClr val="2E5A8C"/>
                </a:solidFill>
                <a:latin typeface="Calibri" pitchFamily="34" charset="0"/>
                <a:ea typeface="Calibri" pitchFamily="34" charset="-122"/>
                <a:cs typeface="Calibri" pitchFamily="34" charset="-120"/>
              </a:rPr>
              <a:t>Input Features</a:t>
            </a:r>
            <a:endParaRPr lang="en-US" sz="1100" dirty="0"/>
          </a:p>
        </p:txBody>
      </p:sp>
      <p:sp>
        <p:nvSpPr>
          <p:cNvPr id="7" name="Text 5"/>
          <p:cNvSpPr/>
          <p:nvPr/>
        </p:nvSpPr>
        <p:spPr>
          <a:xfrm>
            <a:off x="777240" y="1856232"/>
            <a:ext cx="3474720" cy="201168"/>
          </a:xfrm>
          <a:prstGeom prst="rect">
            <a:avLst/>
          </a:prstGeom>
          <a:noFill/>
          <a:ln/>
        </p:spPr>
        <p:txBody>
          <a:bodyPr wrap="square" rtlCol="0" anchor="ctr"/>
          <a:lstStyle/>
          <a:p>
            <a:pPr indent="0" marL="0">
              <a:buNone/>
            </a:pPr>
            <a:r>
              <a:rPr lang="en-US" sz="900" dirty="0">
                <a:solidFill>
                  <a:srgbClr val="666666"/>
                </a:solidFill>
                <a:latin typeface="Calibri" pitchFamily="34" charset="0"/>
                <a:ea typeface="Calibri" pitchFamily="34" charset="-122"/>
                <a:cs typeface="Calibri" pitchFamily="34" charset="-120"/>
              </a:rPr>
              <a:t>Temp, humidity, wind, solar, terrain</a:t>
            </a:r>
            <a:endParaRPr lang="en-US" sz="900" dirty="0"/>
          </a:p>
        </p:txBody>
      </p:sp>
      <p:sp>
        <p:nvSpPr>
          <p:cNvPr id="8" name="Text 6"/>
          <p:cNvSpPr/>
          <p:nvPr/>
        </p:nvSpPr>
        <p:spPr>
          <a:xfrm>
            <a:off x="2286000" y="2075688"/>
            <a:ext cx="457200" cy="228600"/>
          </a:xfrm>
          <a:prstGeom prst="rect">
            <a:avLst/>
          </a:prstGeom>
          <a:noFill/>
          <a:ln/>
        </p:spPr>
        <p:txBody>
          <a:bodyPr wrap="square" rtlCol="0" anchor="ctr"/>
          <a:lstStyle/>
          <a:p>
            <a:pPr algn="ctr" indent="0" marL="0">
              <a:buNone/>
            </a:pPr>
            <a:r>
              <a:rPr lang="en-US" sz="1400" dirty="0">
                <a:solidFill>
                  <a:srgbClr val="666666"/>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640080" y="2258568"/>
            <a:ext cx="3749040" cy="502920"/>
          </a:xfrm>
          <a:prstGeom prst="rect">
            <a:avLst/>
          </a:prstGeom>
          <a:solidFill>
            <a:srgbClr val="2E5A8C">
              <a:alpha val="15000"/>
            </a:srgbClr>
          </a:solidFill>
          <a:ln w="12700">
            <a:solidFill>
              <a:srgbClr val="2E5A8C"/>
            </a:solidFill>
            <a:prstDash val="solid"/>
          </a:ln>
        </p:spPr>
        <p:txBody>
          <a:bodyPr/>
          <a:p/>
        </p:txBody>
      </p:sp>
      <p:sp>
        <p:nvSpPr>
          <p:cNvPr id="10" name="Text 8"/>
          <p:cNvSpPr/>
          <p:nvPr/>
        </p:nvSpPr>
        <p:spPr>
          <a:xfrm>
            <a:off x="777240" y="2304288"/>
            <a:ext cx="1828800" cy="228600"/>
          </a:xfrm>
          <a:prstGeom prst="rect">
            <a:avLst/>
          </a:prstGeom>
          <a:noFill/>
          <a:ln/>
        </p:spPr>
        <p:txBody>
          <a:bodyPr wrap="square" rtlCol="0" anchor="ctr"/>
          <a:lstStyle/>
          <a:p>
            <a:pPr indent="0" marL="0">
              <a:buNone/>
            </a:pPr>
            <a:r>
              <a:rPr lang="en-US" sz="1100" b="1" dirty="0">
                <a:solidFill>
                  <a:srgbClr val="2E5A8C"/>
                </a:solidFill>
                <a:latin typeface="Calibri" pitchFamily="34" charset="0"/>
                <a:ea typeface="Calibri" pitchFamily="34" charset="-122"/>
                <a:cs typeface="Calibri" pitchFamily="34" charset="-120"/>
              </a:rPr>
              <a:t>Spatial Encoder</a:t>
            </a:r>
            <a:endParaRPr lang="en-US" sz="1100" dirty="0"/>
          </a:p>
        </p:txBody>
      </p:sp>
      <p:sp>
        <p:nvSpPr>
          <p:cNvPr id="11" name="Text 9"/>
          <p:cNvSpPr/>
          <p:nvPr/>
        </p:nvSpPr>
        <p:spPr>
          <a:xfrm>
            <a:off x="777240" y="2514600"/>
            <a:ext cx="3474720" cy="201168"/>
          </a:xfrm>
          <a:prstGeom prst="rect">
            <a:avLst/>
          </a:prstGeom>
          <a:noFill/>
          <a:ln/>
        </p:spPr>
        <p:txBody>
          <a:bodyPr wrap="square" rtlCol="0" anchor="ctr"/>
          <a:lstStyle/>
          <a:p>
            <a:pPr indent="0" marL="0">
              <a:buNone/>
            </a:pPr>
            <a:r>
              <a:rPr lang="en-US" sz="900" dirty="0">
                <a:solidFill>
                  <a:srgbClr val="666666"/>
                </a:solidFill>
                <a:latin typeface="Calibri" pitchFamily="34" charset="0"/>
                <a:ea typeface="Calibri" pitchFamily="34" charset="-122"/>
                <a:cs typeface="Calibri" pitchFamily="34" charset="-120"/>
              </a:rPr>
              <a:t>IDW spatial interpolation</a:t>
            </a:r>
            <a:endParaRPr lang="en-US" sz="900" dirty="0"/>
          </a:p>
        </p:txBody>
      </p:sp>
      <p:sp>
        <p:nvSpPr>
          <p:cNvPr id="12" name="Text 10"/>
          <p:cNvSpPr/>
          <p:nvPr/>
        </p:nvSpPr>
        <p:spPr>
          <a:xfrm>
            <a:off x="2286000" y="2734056"/>
            <a:ext cx="457200" cy="228600"/>
          </a:xfrm>
          <a:prstGeom prst="rect">
            <a:avLst/>
          </a:prstGeom>
          <a:noFill/>
          <a:ln/>
        </p:spPr>
        <p:txBody>
          <a:bodyPr wrap="square" rtlCol="0" anchor="ctr"/>
          <a:lstStyle/>
          <a:p>
            <a:pPr algn="ctr" indent="0" marL="0">
              <a:buNone/>
            </a:pPr>
            <a:r>
              <a:rPr lang="en-US" sz="1400" dirty="0">
                <a:solidFill>
                  <a:srgbClr val="666666"/>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640080" y="2916936"/>
            <a:ext cx="3749040" cy="502920"/>
          </a:xfrm>
          <a:prstGeom prst="rect">
            <a:avLst/>
          </a:prstGeom>
          <a:solidFill>
            <a:srgbClr val="2E5A8C">
              <a:alpha val="15000"/>
            </a:srgbClr>
          </a:solidFill>
          <a:ln w="12700">
            <a:solidFill>
              <a:srgbClr val="2E5A8C"/>
            </a:solidFill>
            <a:prstDash val="solid"/>
          </a:ln>
        </p:spPr>
        <p:txBody>
          <a:bodyPr/>
          <a:p/>
        </p:txBody>
      </p:sp>
      <p:sp>
        <p:nvSpPr>
          <p:cNvPr id="14" name="Text 12"/>
          <p:cNvSpPr/>
          <p:nvPr/>
        </p:nvSpPr>
        <p:spPr>
          <a:xfrm>
            <a:off x="777240" y="2962656"/>
            <a:ext cx="1828800" cy="228600"/>
          </a:xfrm>
          <a:prstGeom prst="rect">
            <a:avLst/>
          </a:prstGeom>
          <a:noFill/>
          <a:ln/>
        </p:spPr>
        <p:txBody>
          <a:bodyPr wrap="square" rtlCol="0" anchor="ctr"/>
          <a:lstStyle/>
          <a:p>
            <a:pPr indent="0" marL="0">
              <a:buNone/>
            </a:pPr>
            <a:r>
              <a:rPr lang="en-US" sz="1100" b="1" dirty="0">
                <a:solidFill>
                  <a:srgbClr val="2E5A8C"/>
                </a:solidFill>
                <a:latin typeface="Calibri" pitchFamily="34" charset="0"/>
                <a:ea typeface="Calibri" pitchFamily="34" charset="-122"/>
                <a:cs typeface="Calibri" pitchFamily="34" charset="-120"/>
              </a:rPr>
              <a:t>Temporal Encoder</a:t>
            </a:r>
            <a:endParaRPr lang="en-US" sz="1100" dirty="0"/>
          </a:p>
        </p:txBody>
      </p:sp>
      <p:sp>
        <p:nvSpPr>
          <p:cNvPr id="15" name="Text 13"/>
          <p:cNvSpPr/>
          <p:nvPr/>
        </p:nvSpPr>
        <p:spPr>
          <a:xfrm>
            <a:off x="777240" y="3172968"/>
            <a:ext cx="3474720" cy="201168"/>
          </a:xfrm>
          <a:prstGeom prst="rect">
            <a:avLst/>
          </a:prstGeom>
          <a:noFill/>
          <a:ln/>
        </p:spPr>
        <p:txBody>
          <a:bodyPr wrap="square" rtlCol="0" anchor="ctr"/>
          <a:lstStyle/>
          <a:p>
            <a:pPr indent="0" marL="0">
              <a:buNone/>
            </a:pPr>
            <a:r>
              <a:rPr lang="en-US" sz="900" dirty="0">
                <a:solidFill>
                  <a:srgbClr val="666666"/>
                </a:solidFill>
                <a:latin typeface="Calibri" pitchFamily="34" charset="0"/>
                <a:ea typeface="Calibri" pitchFamily="34" charset="-122"/>
                <a:cs typeface="Calibri" pitchFamily="34" charset="-120"/>
              </a:rPr>
              <a:t>Random Forest regression (ONNX)</a:t>
            </a:r>
            <a:endParaRPr lang="en-US" sz="900" dirty="0"/>
          </a:p>
        </p:txBody>
      </p:sp>
      <p:sp>
        <p:nvSpPr>
          <p:cNvPr id="16" name="Text 14"/>
          <p:cNvSpPr/>
          <p:nvPr/>
        </p:nvSpPr>
        <p:spPr>
          <a:xfrm>
            <a:off x="2286000" y="3392424"/>
            <a:ext cx="457200" cy="228600"/>
          </a:xfrm>
          <a:prstGeom prst="rect">
            <a:avLst/>
          </a:prstGeom>
          <a:noFill/>
          <a:ln/>
        </p:spPr>
        <p:txBody>
          <a:bodyPr wrap="square" rtlCol="0" anchor="ctr"/>
          <a:lstStyle/>
          <a:p>
            <a:pPr algn="ctr" indent="0" marL="0">
              <a:buNone/>
            </a:pPr>
            <a:r>
              <a:rPr lang="en-US" sz="1400" dirty="0">
                <a:solidFill>
                  <a:srgbClr val="666666"/>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640080" y="3575304"/>
            <a:ext cx="3749040" cy="502920"/>
          </a:xfrm>
          <a:prstGeom prst="rect">
            <a:avLst/>
          </a:prstGeom>
          <a:solidFill>
            <a:srgbClr val="B85042">
              <a:alpha val="15000"/>
            </a:srgbClr>
          </a:solidFill>
          <a:ln w="12700">
            <a:solidFill>
              <a:srgbClr val="B85042"/>
            </a:solidFill>
            <a:prstDash val="solid"/>
          </a:ln>
        </p:spPr>
        <p:txBody>
          <a:bodyPr/>
          <a:p/>
        </p:txBody>
      </p:sp>
      <p:sp>
        <p:nvSpPr>
          <p:cNvPr id="18" name="Text 16"/>
          <p:cNvSpPr/>
          <p:nvPr/>
        </p:nvSpPr>
        <p:spPr>
          <a:xfrm>
            <a:off x="777240" y="3621024"/>
            <a:ext cx="1828800" cy="228600"/>
          </a:xfrm>
          <a:prstGeom prst="rect">
            <a:avLst/>
          </a:prstGeom>
          <a:noFill/>
          <a:ln/>
        </p:spPr>
        <p:txBody>
          <a:bodyPr wrap="square" rtlCol="0" anchor="ctr"/>
          <a:lstStyle/>
          <a:p>
            <a:pPr indent="0" marL="0">
              <a:buNone/>
            </a:pPr>
            <a:r>
              <a:rPr lang="en-US" sz="1100" b="1" dirty="0">
                <a:solidFill>
                  <a:srgbClr val="B85042"/>
                </a:solidFill>
                <a:latin typeface="Calibri" pitchFamily="34" charset="0"/>
                <a:ea typeface="Calibri" pitchFamily="34" charset="-122"/>
                <a:cs typeface="Calibri" pitchFamily="34" charset="-120"/>
              </a:rPr>
              <a:t>Physics Layer</a:t>
            </a:r>
            <a:endParaRPr lang="en-US" sz="1100" dirty="0"/>
          </a:p>
        </p:txBody>
      </p:sp>
      <p:sp>
        <p:nvSpPr>
          <p:cNvPr id="19" name="Text 17"/>
          <p:cNvSpPr/>
          <p:nvPr/>
        </p:nvSpPr>
        <p:spPr>
          <a:xfrm>
            <a:off x="777240" y="3831336"/>
            <a:ext cx="3474720" cy="201168"/>
          </a:xfrm>
          <a:prstGeom prst="rect">
            <a:avLst/>
          </a:prstGeom>
          <a:noFill/>
          <a:ln/>
        </p:spPr>
        <p:txBody>
          <a:bodyPr wrap="square" rtlCol="0" anchor="ctr"/>
          <a:lstStyle/>
          <a:p>
            <a:pPr indent="0" marL="0">
              <a:buNone/>
            </a:pPr>
            <a:r>
              <a:rPr lang="en-US" sz="900" dirty="0">
                <a:solidFill>
                  <a:srgbClr val="666666"/>
                </a:solidFill>
                <a:latin typeface="Calibri" pitchFamily="34" charset="0"/>
                <a:ea typeface="Calibri" pitchFamily="34" charset="-122"/>
                <a:cs typeface="Calibri" pitchFamily="34" charset="-120"/>
              </a:rPr>
              <a:t>WBGT equation constraints</a:t>
            </a:r>
            <a:endParaRPr lang="en-US" sz="900" dirty="0"/>
          </a:p>
        </p:txBody>
      </p:sp>
      <p:sp>
        <p:nvSpPr>
          <p:cNvPr id="20" name="Text 18"/>
          <p:cNvSpPr/>
          <p:nvPr/>
        </p:nvSpPr>
        <p:spPr>
          <a:xfrm>
            <a:off x="2286000" y="4050792"/>
            <a:ext cx="457200" cy="228600"/>
          </a:xfrm>
          <a:prstGeom prst="rect">
            <a:avLst/>
          </a:prstGeom>
          <a:noFill/>
          <a:ln/>
        </p:spPr>
        <p:txBody>
          <a:bodyPr wrap="square" rtlCol="0" anchor="ctr"/>
          <a:lstStyle/>
          <a:p>
            <a:pPr algn="ctr" indent="0" marL="0">
              <a:buNone/>
            </a:pPr>
            <a:r>
              <a:rPr lang="en-US" sz="1400" dirty="0">
                <a:solidFill>
                  <a:srgbClr val="666666"/>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640080" y="4233672"/>
            <a:ext cx="3749040" cy="502920"/>
          </a:xfrm>
          <a:prstGeom prst="rect">
            <a:avLst/>
          </a:prstGeom>
          <a:solidFill>
            <a:srgbClr val="2D6A4F">
              <a:alpha val="15000"/>
            </a:srgbClr>
          </a:solidFill>
          <a:ln w="12700">
            <a:solidFill>
              <a:srgbClr val="2D6A4F"/>
            </a:solidFill>
            <a:prstDash val="solid"/>
          </a:ln>
        </p:spPr>
        <p:txBody>
          <a:bodyPr/>
          <a:p/>
        </p:txBody>
      </p:sp>
      <p:sp>
        <p:nvSpPr>
          <p:cNvPr id="22" name="Text 20"/>
          <p:cNvSpPr/>
          <p:nvPr/>
        </p:nvSpPr>
        <p:spPr>
          <a:xfrm>
            <a:off x="777240" y="4279392"/>
            <a:ext cx="1828800" cy="228600"/>
          </a:xfrm>
          <a:prstGeom prst="rect">
            <a:avLst/>
          </a:prstGeom>
          <a:noFill/>
          <a:ln/>
        </p:spPr>
        <p:txBody>
          <a:bodyPr wrap="square"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Output</a:t>
            </a:r>
            <a:endParaRPr lang="en-US" sz="1100" dirty="0"/>
          </a:p>
        </p:txBody>
      </p:sp>
      <p:sp>
        <p:nvSpPr>
          <p:cNvPr id="23" name="Text 21"/>
          <p:cNvSpPr/>
          <p:nvPr/>
        </p:nvSpPr>
        <p:spPr>
          <a:xfrm>
            <a:off x="777240" y="4489704"/>
            <a:ext cx="3474720" cy="201168"/>
          </a:xfrm>
          <a:prstGeom prst="rect">
            <a:avLst/>
          </a:prstGeom>
          <a:noFill/>
          <a:ln/>
        </p:spPr>
        <p:txBody>
          <a:bodyPr wrap="square" rtlCol="0" anchor="ctr"/>
          <a:lstStyle/>
          <a:p>
            <a:pPr indent="0" marL="0">
              <a:buNone/>
            </a:pPr>
            <a:r>
              <a:rPr lang="en-US" sz="900" dirty="0">
                <a:solidFill>
                  <a:srgbClr val="666666"/>
                </a:solidFill>
                <a:latin typeface="Calibri" pitchFamily="34" charset="0"/>
                <a:ea typeface="Calibri" pitchFamily="34" charset="-122"/>
                <a:cs typeface="Calibri" pitchFamily="34" charset="-120"/>
              </a:rPr>
              <a:t>WBGT + uncertainty bounds</a:t>
            </a:r>
            <a:endParaRPr lang="en-US" sz="900" dirty="0"/>
          </a:p>
        </p:txBody>
      </p:sp>
      <p:sp>
        <p:nvSpPr>
          <p:cNvPr id="24" name="Shape 22"/>
          <p:cNvSpPr/>
          <p:nvPr/>
        </p:nvSpPr>
        <p:spPr>
          <a:xfrm>
            <a:off x="4754880" y="1005840"/>
            <a:ext cx="3931920" cy="1828800"/>
          </a:xfrm>
          <a:prstGeom prst="rect">
            <a:avLst/>
          </a:prstGeom>
          <a:solidFill>
            <a:srgbClr val="F5F5F5"/>
          </a:solidFill>
          <a:ln/>
          <a:effectLst>
            <a:outerShdw sx="100000" sy="100000" kx="0" ky="0" algn="bl" rotWithShape="0" blurRad="101600" dist="38100" dir="8100000">
              <a:srgbClr val="000000">
                <a:alpha val="12000"/>
              </a:srgbClr>
            </a:outerShdw>
          </a:effectLst>
        </p:spPr>
        <p:txBody>
          <a:bodyPr/>
          <a:p/>
        </p:txBody>
      </p:sp>
      <p:sp>
        <p:nvSpPr>
          <p:cNvPr id="25" name="Text 23"/>
          <p:cNvSpPr/>
          <p:nvPr/>
        </p:nvSpPr>
        <p:spPr>
          <a:xfrm>
            <a:off x="4937760" y="1143000"/>
            <a:ext cx="3566160" cy="365760"/>
          </a:xfrm>
          <a:prstGeom prst="rect">
            <a:avLst/>
          </a:prstGeom>
          <a:noFill/>
          <a:ln/>
        </p:spPr>
        <p:txBody>
          <a:bodyPr wrap="square" rtlCol="0" anchor="ctr"/>
          <a:lstStyle/>
          <a:p>
            <a:pPr indent="0" marL="0">
              <a:buNone/>
            </a:pPr>
            <a:r>
              <a:rPr lang="en-US" sz="1600" b="1" dirty="0">
                <a:solidFill>
                  <a:srgbClr val="1A1A2E"/>
                </a:solidFill>
                <a:latin typeface="Georgia" pitchFamily="34" charset="0"/>
                <a:ea typeface="Georgia" pitchFamily="34" charset="-122"/>
                <a:cs typeface="Georgia" pitchFamily="34" charset="-120"/>
              </a:rPr>
              <a:t>Data Sources</a:t>
            </a:r>
            <a:endParaRPr lang="en-US" sz="1600" dirty="0"/>
          </a:p>
        </p:txBody>
      </p:sp>
      <p:sp>
        <p:nvSpPr>
          <p:cNvPr id="26" name="Text 24"/>
          <p:cNvSpPr/>
          <p:nvPr/>
        </p:nvSpPr>
        <p:spPr>
          <a:xfrm>
            <a:off x="4937760" y="1554480"/>
            <a:ext cx="3566160" cy="1097280"/>
          </a:xfrm>
          <a:prstGeom prst="rect">
            <a:avLst/>
          </a:prstGeom>
          <a:noFill/>
          <a:ln/>
        </p:spPr>
        <p:txBody>
          <a:bodyPr wrap="square" rtlCol="0" anchor="ctr"/>
          <a:lstStyle/>
          <a:p>
            <a:pPr marL="342900" indent="-342900">
              <a:spcAft>
                <a:spcPts val="600"/>
              </a:spcAft>
              <a:buSzPct val="100000"/>
              <a:buChar char="•"/>
            </a:pPr>
            <a:r>
              <a:rPr lang="en-US" sz="1200" dirty="0">
                <a:solidFill>
                  <a:srgbClr val="666666"/>
                </a:solidFill>
                <a:latin typeface="Calibri" pitchFamily="34" charset="0"/>
                <a:ea typeface="Calibri" pitchFamily="34" charset="-122"/>
                <a:cs typeface="Calibri" pitchFamily="34" charset="-120"/>
              </a:rPr>
              <a:t>ICPAC forecasts (6-hourly)</a:t>
            </a:r>
            <a:endParaRPr lang="en-US" sz="1200" dirty="0"/>
          </a:p>
          <a:p>
            <a:pPr marL="342900" indent="-342900">
              <a:spcAft>
                <a:spcPts val="600"/>
              </a:spcAft>
              <a:buSzPct val="100000"/>
              <a:buChar char="•"/>
            </a:pPr>
            <a:r>
              <a:rPr lang="en-US" sz="1200" dirty="0">
                <a:solidFill>
                  <a:srgbClr val="666666"/>
                </a:solidFill>
                <a:latin typeface="Calibri" pitchFamily="34" charset="0"/>
                <a:ea typeface="Calibri" pitchFamily="34" charset="-122"/>
                <a:cs typeface="Calibri" pitchFamily="34" charset="-120"/>
              </a:rPr>
              <a:t>ERA5 reanalysis</a:t>
            </a:r>
            <a:endParaRPr lang="en-US" sz="1200" dirty="0"/>
          </a:p>
          <a:p>
            <a:pPr marL="342900" indent="-342900">
              <a:spcAft>
                <a:spcPts val="600"/>
              </a:spcAft>
              <a:buSzPct val="100000"/>
              <a:buChar char="•"/>
            </a:pPr>
            <a:r>
              <a:rPr lang="en-US" sz="1200" dirty="0">
                <a:solidFill>
                  <a:srgbClr val="666666"/>
                </a:solidFill>
                <a:latin typeface="Calibri" pitchFamily="34" charset="0"/>
                <a:ea typeface="Calibri" pitchFamily="34" charset="-122"/>
                <a:cs typeface="Calibri" pitchFamily="34" charset="-120"/>
              </a:rPr>
              <a:t>Sentinel-2 (NDVI, canopy)</a:t>
            </a:r>
            <a:endParaRPr lang="en-US" sz="1200" dirty="0"/>
          </a:p>
          <a:p>
            <a:pPr marL="342900" indent="-342900">
              <a:spcAft>
                <a:spcPts val="600"/>
              </a:spcAft>
              <a:buSzPct val="100000"/>
              <a:buChar char="•"/>
            </a:pPr>
            <a:r>
              <a:rPr lang="en-US" sz="1200" dirty="0">
                <a:solidFill>
                  <a:srgbClr val="666666"/>
                </a:solidFill>
                <a:latin typeface="Calibri" pitchFamily="34" charset="0"/>
                <a:ea typeface="Calibri" pitchFamily="34" charset="-122"/>
                <a:cs typeface="Calibri" pitchFamily="34" charset="-120"/>
              </a:rPr>
              <a:t>SRTM elevation data</a:t>
            </a:r>
            <a:endParaRPr lang="en-US" sz="1200" dirty="0"/>
          </a:p>
        </p:txBody>
      </p:sp>
      <p:sp>
        <p:nvSpPr>
          <p:cNvPr id="27" name="Shape 25"/>
          <p:cNvSpPr/>
          <p:nvPr/>
        </p:nvSpPr>
        <p:spPr>
          <a:xfrm>
            <a:off x="4754880" y="3017520"/>
            <a:ext cx="3931920" cy="1828800"/>
          </a:xfrm>
          <a:prstGeom prst="rect">
            <a:avLst/>
          </a:prstGeom>
          <a:solidFill>
            <a:srgbClr val="F5F5F5"/>
          </a:solidFill>
          <a:ln/>
          <a:effectLst>
            <a:outerShdw sx="100000" sy="100000" kx="0" ky="0" algn="bl" rotWithShape="0" blurRad="101600" dist="38100" dir="8100000">
              <a:srgbClr val="000000">
                <a:alpha val="12000"/>
              </a:srgbClr>
            </a:outerShdw>
          </a:effectLst>
        </p:spPr>
        <p:txBody>
          <a:bodyPr/>
          <a:p/>
        </p:txBody>
      </p:sp>
      <p:sp>
        <p:nvSpPr>
          <p:cNvPr id="28" name="Text 26"/>
          <p:cNvSpPr/>
          <p:nvPr/>
        </p:nvSpPr>
        <p:spPr>
          <a:xfrm>
            <a:off x="4937760" y="3154680"/>
            <a:ext cx="3566160" cy="365760"/>
          </a:xfrm>
          <a:prstGeom prst="rect">
            <a:avLst/>
          </a:prstGeom>
          <a:noFill/>
          <a:ln/>
        </p:spPr>
        <p:txBody>
          <a:bodyPr wrap="square" rtlCol="0" anchor="ctr"/>
          <a:lstStyle/>
          <a:p>
            <a:pPr indent="0" marL="0">
              <a:buNone/>
            </a:pPr>
            <a:r>
              <a:rPr lang="en-US" sz="1600" b="1" dirty="0">
                <a:solidFill>
                  <a:srgbClr val="1A1A2E"/>
                </a:solidFill>
                <a:latin typeface="Georgia" pitchFamily="34" charset="0"/>
                <a:ea typeface="Georgia" pitchFamily="34" charset="-122"/>
                <a:cs typeface="Georgia" pitchFamily="34" charset="-120"/>
              </a:rPr>
              <a:t>Technology Stack</a:t>
            </a:r>
            <a:endParaRPr lang="en-US" sz="1600" dirty="0"/>
          </a:p>
        </p:txBody>
      </p:sp>
      <p:sp>
        <p:nvSpPr>
          <p:cNvPr id="29" name="Text 27"/>
          <p:cNvSpPr/>
          <p:nvPr/>
        </p:nvSpPr>
        <p:spPr>
          <a:xfrm>
            <a:off x="5029200" y="3566160"/>
            <a:ext cx="1097280" cy="320040"/>
          </a:xfrm>
          <a:prstGeom prst="rect">
            <a:avLst/>
          </a:prstGeom>
          <a:noFill/>
          <a:ln/>
        </p:spPr>
        <p:txBody>
          <a:bodyPr wrap="square" rtlCol="0" anchor="ctr"/>
          <a:lstStyle/>
          <a:p>
            <a:pPr indent="0" marL="0">
              <a:buNone/>
            </a:pPr>
            <a:r>
              <a:rPr lang="en-US" sz="1000" b="1" dirty="0">
                <a:solidFill>
                  <a:srgbClr val="2E5A8C"/>
                </a:solidFill>
                <a:latin typeface="Calibri" pitchFamily="34" charset="0"/>
                <a:ea typeface="Calibri" pitchFamily="34" charset="-122"/>
                <a:cs typeface="Calibri" pitchFamily="34" charset="-120"/>
              </a:rPr>
              <a:t>Frontend:</a:t>
            </a:r>
            <a:endParaRPr lang="en-US" sz="1000" dirty="0"/>
          </a:p>
        </p:txBody>
      </p:sp>
      <p:sp>
        <p:nvSpPr>
          <p:cNvPr id="30" name="Text 28"/>
          <p:cNvSpPr/>
          <p:nvPr/>
        </p:nvSpPr>
        <p:spPr>
          <a:xfrm>
            <a:off x="6126480" y="3566160"/>
            <a:ext cx="2377440" cy="32004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React, TypeScript, Rust/Wasm</a:t>
            </a:r>
            <a:endParaRPr lang="en-US" sz="1000" dirty="0"/>
          </a:p>
        </p:txBody>
      </p:sp>
      <p:sp>
        <p:nvSpPr>
          <p:cNvPr id="31" name="Text 29"/>
          <p:cNvSpPr/>
          <p:nvPr/>
        </p:nvSpPr>
        <p:spPr>
          <a:xfrm>
            <a:off x="5029200" y="3931920"/>
            <a:ext cx="1097280" cy="320040"/>
          </a:xfrm>
          <a:prstGeom prst="rect">
            <a:avLst/>
          </a:prstGeom>
          <a:noFill/>
          <a:ln/>
        </p:spPr>
        <p:txBody>
          <a:bodyPr wrap="square" rtlCol="0" anchor="ctr"/>
          <a:lstStyle/>
          <a:p>
            <a:pPr indent="0" marL="0">
              <a:buNone/>
            </a:pPr>
            <a:r>
              <a:rPr lang="en-US" sz="1000" b="1" dirty="0">
                <a:solidFill>
                  <a:srgbClr val="2E5A8C"/>
                </a:solidFill>
                <a:latin typeface="Calibri" pitchFamily="34" charset="0"/>
                <a:ea typeface="Calibri" pitchFamily="34" charset="-122"/>
                <a:cs typeface="Calibri" pitchFamily="34" charset="-120"/>
              </a:rPr>
              <a:t>Backend:</a:t>
            </a:r>
            <a:endParaRPr lang="en-US" sz="1000" dirty="0"/>
          </a:p>
        </p:txBody>
      </p:sp>
      <p:sp>
        <p:nvSpPr>
          <p:cNvPr id="32" name="Text 30"/>
          <p:cNvSpPr/>
          <p:nvPr/>
        </p:nvSpPr>
        <p:spPr>
          <a:xfrm>
            <a:off x="6126480" y="3931920"/>
            <a:ext cx="2377440" cy="32004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Rust (Actix-web), Python</a:t>
            </a:r>
            <a:endParaRPr lang="en-US" sz="1000" dirty="0"/>
          </a:p>
        </p:txBody>
      </p:sp>
      <p:sp>
        <p:nvSpPr>
          <p:cNvPr id="33" name="Text 31"/>
          <p:cNvSpPr/>
          <p:nvPr/>
        </p:nvSpPr>
        <p:spPr>
          <a:xfrm>
            <a:off x="5029200" y="4297680"/>
            <a:ext cx="1097280" cy="320040"/>
          </a:xfrm>
          <a:prstGeom prst="rect">
            <a:avLst/>
          </a:prstGeom>
          <a:noFill/>
          <a:ln/>
        </p:spPr>
        <p:txBody>
          <a:bodyPr wrap="square" rtlCol="0" anchor="ctr"/>
          <a:lstStyle/>
          <a:p>
            <a:pPr indent="0" marL="0">
              <a:buNone/>
            </a:pPr>
            <a:r>
              <a:rPr lang="en-US" sz="1000" b="1" dirty="0">
                <a:solidFill>
                  <a:srgbClr val="2E5A8C"/>
                </a:solidFill>
                <a:latin typeface="Calibri" pitchFamily="34" charset="0"/>
                <a:ea typeface="Calibri" pitchFamily="34" charset="-122"/>
                <a:cs typeface="Calibri" pitchFamily="34" charset="-120"/>
              </a:rPr>
              <a:t>ML:</a:t>
            </a:r>
            <a:endParaRPr lang="en-US" sz="1000" dirty="0"/>
          </a:p>
        </p:txBody>
      </p:sp>
      <p:sp>
        <p:nvSpPr>
          <p:cNvPr id="34" name="Text 32"/>
          <p:cNvSpPr/>
          <p:nvPr/>
        </p:nvSpPr>
        <p:spPr>
          <a:xfrm>
            <a:off x="6126480" y="4297680"/>
            <a:ext cx="2377440" cy="32004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Random Forest, ONNX Runtime</a:t>
            </a:r>
            <a:endParaRPr lang="en-US" sz="1000" dirty="0"/>
          </a:p>
        </p:txBody>
      </p:sp>
      <p:sp>
        <p:nvSpPr>
          <p:cNvPr id="35" name="Text 33"/>
          <p:cNvSpPr/>
          <p:nvPr/>
        </p:nvSpPr>
        <p:spPr>
          <a:xfrm>
            <a:off x="5029200" y="4663440"/>
            <a:ext cx="1097280" cy="320040"/>
          </a:xfrm>
          <a:prstGeom prst="rect">
            <a:avLst/>
          </a:prstGeom>
          <a:noFill/>
          <a:ln/>
        </p:spPr>
        <p:txBody>
          <a:bodyPr wrap="square" rtlCol="0" anchor="ctr"/>
          <a:lstStyle/>
          <a:p>
            <a:pPr indent="0" marL="0">
              <a:buNone/>
            </a:pPr>
            <a:r>
              <a:rPr lang="en-US" sz="1000" b="1" dirty="0">
                <a:solidFill>
                  <a:srgbClr val="2E5A8C"/>
                </a:solidFill>
                <a:latin typeface="Calibri" pitchFamily="34" charset="0"/>
                <a:ea typeface="Calibri" pitchFamily="34" charset="-122"/>
                <a:cs typeface="Calibri" pitchFamily="34" charset="-120"/>
              </a:rPr>
              <a:t>SMS/USSD:</a:t>
            </a:r>
            <a:endParaRPr lang="en-US" sz="1000" dirty="0"/>
          </a:p>
        </p:txBody>
      </p:sp>
      <p:sp>
        <p:nvSpPr>
          <p:cNvPr id="36" name="Text 34"/>
          <p:cNvSpPr/>
          <p:nvPr/>
        </p:nvSpPr>
        <p:spPr>
          <a:xfrm>
            <a:off x="6126480" y="4663440"/>
            <a:ext cx="2377440" cy="32004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Africa's Talking API</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12-Month Impact</a:t>
            </a:r>
            <a:endParaRPr lang="en-US" sz="3600" dirty="0"/>
          </a:p>
        </p:txBody>
      </p:sp>
      <p:sp>
        <p:nvSpPr>
          <p:cNvPr id="3" name="Shape 1"/>
          <p:cNvSpPr/>
          <p:nvPr/>
        </p:nvSpPr>
        <p:spPr>
          <a:xfrm>
            <a:off x="457200" y="1097280"/>
            <a:ext cx="2743200" cy="1645920"/>
          </a:xfrm>
          <a:prstGeom prst="rect">
            <a:avLst/>
          </a:prstGeom>
          <a:solidFill>
            <a:srgbClr val="FFFFFF">
              <a:alpha val="5000"/>
            </a:srgbClr>
          </a:solidFill>
          <a:ln w="25400">
            <a:solidFill>
              <a:srgbClr val="B85042"/>
            </a:solidFill>
            <a:prstDash val="solid"/>
          </a:ln>
        </p:spPr>
        <p:txBody>
          <a:bodyPr/>
          <a:p/>
        </p:txBody>
      </p:sp>
      <p:sp>
        <p:nvSpPr>
          <p:cNvPr id="4" name="Text 2"/>
          <p:cNvSpPr/>
          <p:nvPr/>
        </p:nvSpPr>
        <p:spPr>
          <a:xfrm>
            <a:off x="457200" y="1280160"/>
            <a:ext cx="2743200" cy="731520"/>
          </a:xfrm>
          <a:prstGeom prst="rect">
            <a:avLst/>
          </a:prstGeom>
          <a:noFill/>
          <a:ln/>
        </p:spPr>
        <p:txBody>
          <a:bodyPr wrap="square" rtlCol="0" anchor="ctr"/>
          <a:lstStyle/>
          <a:p>
            <a:pPr algn="ctr" indent="0" marL="0">
              <a:buNone/>
            </a:pPr>
            <a:r>
              <a:rPr lang="en-US" sz="4000" b="1" dirty="0">
                <a:solidFill>
                  <a:srgbClr val="B85042"/>
                </a:solidFill>
                <a:latin typeface="Georgia" pitchFamily="34" charset="0"/>
                <a:ea typeface="Georgia" pitchFamily="34" charset="-122"/>
                <a:cs typeface="Georgia" pitchFamily="34" charset="-120"/>
              </a:rPr>
              <a:t>10,000</a:t>
            </a:r>
            <a:endParaRPr lang="en-US" sz="4000" dirty="0"/>
          </a:p>
        </p:txBody>
      </p:sp>
      <p:sp>
        <p:nvSpPr>
          <p:cNvPr id="5" name="Text 3"/>
          <p:cNvSpPr/>
          <p:nvPr/>
        </p:nvSpPr>
        <p:spPr>
          <a:xfrm>
            <a:off x="457200" y="2103120"/>
            <a:ext cx="2743200" cy="548640"/>
          </a:xfrm>
          <a:prstGeom prst="rect">
            <a:avLst/>
          </a:prstGeom>
          <a:noFill/>
          <a:ln/>
        </p:spPr>
        <p:txBody>
          <a:bodyPr wrap="square" rtlCol="0" anchor="ctr"/>
          <a:lstStyle/>
          <a:p>
            <a:pPr algn="ctr" indent="0" marL="0">
              <a:buNone/>
            </a:pPr>
            <a:r>
              <a:rPr lang="en-US" sz="1200" dirty="0">
                <a:solidFill>
                  <a:srgbClr val="E7E8D1"/>
                </a:solidFill>
                <a:latin typeface="Calibri" pitchFamily="34" charset="0"/>
                <a:ea typeface="Calibri" pitchFamily="34" charset="-122"/>
                <a:cs typeface="Calibri" pitchFamily="34" charset="-120"/>
              </a:rPr>
              <a:t>Farmers registered</a:t>
            </a:r>
            <a:endParaRPr lang="en-US" sz="1200" dirty="0"/>
          </a:p>
          <a:p>
            <a:pPr algn="ctr" indent="0" marL="0">
              <a:buNone/>
            </a:pPr>
            <a:r>
              <a:rPr lang="en-US" sz="1200" dirty="0">
                <a:solidFill>
                  <a:srgbClr val="E7E8D1"/>
                </a:solidFill>
                <a:latin typeface="Calibri" pitchFamily="34" charset="0"/>
                <a:ea typeface="Calibri" pitchFamily="34" charset="-122"/>
                <a:cs typeface="Calibri" pitchFamily="34" charset="-120"/>
              </a:rPr>
              <a:t>for alerts</a:t>
            </a:r>
            <a:endParaRPr lang="en-US" sz="1200" dirty="0"/>
          </a:p>
        </p:txBody>
      </p:sp>
      <p:sp>
        <p:nvSpPr>
          <p:cNvPr id="6" name="Shape 4"/>
          <p:cNvSpPr/>
          <p:nvPr/>
        </p:nvSpPr>
        <p:spPr>
          <a:xfrm>
            <a:off x="3337560" y="1097280"/>
            <a:ext cx="2743200" cy="1645920"/>
          </a:xfrm>
          <a:prstGeom prst="rect">
            <a:avLst/>
          </a:prstGeom>
          <a:solidFill>
            <a:srgbClr val="FFFFFF">
              <a:alpha val="5000"/>
            </a:srgbClr>
          </a:solidFill>
          <a:ln w="25400">
            <a:solidFill>
              <a:srgbClr val="2D6A4F"/>
            </a:solidFill>
            <a:prstDash val="solid"/>
          </a:ln>
        </p:spPr>
        <p:txBody>
          <a:bodyPr/>
          <a:p/>
        </p:txBody>
      </p:sp>
      <p:sp>
        <p:nvSpPr>
          <p:cNvPr id="7" name="Text 5"/>
          <p:cNvSpPr/>
          <p:nvPr/>
        </p:nvSpPr>
        <p:spPr>
          <a:xfrm>
            <a:off x="3337560" y="1280160"/>
            <a:ext cx="2743200" cy="731520"/>
          </a:xfrm>
          <a:prstGeom prst="rect">
            <a:avLst/>
          </a:prstGeom>
          <a:noFill/>
          <a:ln/>
        </p:spPr>
        <p:txBody>
          <a:bodyPr wrap="square" rtlCol="0" anchor="ctr"/>
          <a:lstStyle/>
          <a:p>
            <a:pPr algn="ctr" indent="0" marL="0">
              <a:buNone/>
            </a:pPr>
            <a:r>
              <a:rPr lang="en-US" sz="4000" b="1" dirty="0">
                <a:solidFill>
                  <a:srgbClr val="2D6A4F"/>
                </a:solidFill>
                <a:latin typeface="Georgia" pitchFamily="34" charset="0"/>
                <a:ea typeface="Georgia" pitchFamily="34" charset="-122"/>
                <a:cs typeface="Georgia" pitchFamily="34" charset="-120"/>
              </a:rPr>
              <a:t>60,000+</a:t>
            </a:r>
            <a:endParaRPr lang="en-US" sz="4000" dirty="0"/>
          </a:p>
        </p:txBody>
      </p:sp>
      <p:sp>
        <p:nvSpPr>
          <p:cNvPr id="8" name="Text 6"/>
          <p:cNvSpPr/>
          <p:nvPr/>
        </p:nvSpPr>
        <p:spPr>
          <a:xfrm>
            <a:off x="3337560" y="2103120"/>
            <a:ext cx="2743200" cy="548640"/>
          </a:xfrm>
          <a:prstGeom prst="rect">
            <a:avLst/>
          </a:prstGeom>
          <a:noFill/>
          <a:ln/>
        </p:spPr>
        <p:txBody>
          <a:bodyPr wrap="square" rtlCol="0" anchor="ctr"/>
          <a:lstStyle/>
          <a:p>
            <a:pPr algn="ctr" indent="0" marL="0">
              <a:buNone/>
            </a:pPr>
            <a:r>
              <a:rPr lang="en-US" sz="1200" dirty="0">
                <a:solidFill>
                  <a:srgbClr val="E7E8D1"/>
                </a:solidFill>
                <a:latin typeface="Calibri" pitchFamily="34" charset="0"/>
                <a:ea typeface="Calibri" pitchFamily="34" charset="-122"/>
                <a:cs typeface="Calibri" pitchFamily="34" charset="-120"/>
              </a:rPr>
              <a:t>Lives impacted</a:t>
            </a:r>
            <a:endParaRPr lang="en-US" sz="1200" dirty="0"/>
          </a:p>
          <a:p>
            <a:pPr algn="ctr" indent="0" marL="0">
              <a:buNone/>
            </a:pPr>
            <a:r>
              <a:rPr lang="en-US" sz="1200" dirty="0">
                <a:solidFill>
                  <a:srgbClr val="E7E8D1"/>
                </a:solidFill>
                <a:latin typeface="Calibri" pitchFamily="34" charset="0"/>
                <a:ea typeface="Calibri" pitchFamily="34" charset="-122"/>
                <a:cs typeface="Calibri" pitchFamily="34" charset="-120"/>
              </a:rPr>
              <a:t>(direct + indirect)</a:t>
            </a:r>
            <a:endParaRPr lang="en-US" sz="1200" dirty="0"/>
          </a:p>
        </p:txBody>
      </p:sp>
      <p:sp>
        <p:nvSpPr>
          <p:cNvPr id="9" name="Shape 7"/>
          <p:cNvSpPr/>
          <p:nvPr/>
        </p:nvSpPr>
        <p:spPr>
          <a:xfrm>
            <a:off x="6217920" y="1097280"/>
            <a:ext cx="2743200" cy="1645920"/>
          </a:xfrm>
          <a:prstGeom prst="rect">
            <a:avLst/>
          </a:prstGeom>
          <a:solidFill>
            <a:srgbClr val="FFFFFF">
              <a:alpha val="5000"/>
            </a:srgbClr>
          </a:solidFill>
          <a:ln w="25400">
            <a:solidFill>
              <a:srgbClr val="2E5A8C"/>
            </a:solidFill>
            <a:prstDash val="solid"/>
          </a:ln>
        </p:spPr>
        <p:txBody>
          <a:bodyPr/>
          <a:p/>
        </p:txBody>
      </p:sp>
      <p:sp>
        <p:nvSpPr>
          <p:cNvPr id="10" name="Text 8"/>
          <p:cNvSpPr/>
          <p:nvPr/>
        </p:nvSpPr>
        <p:spPr>
          <a:xfrm>
            <a:off x="6217920" y="1280160"/>
            <a:ext cx="2743200" cy="731520"/>
          </a:xfrm>
          <a:prstGeom prst="rect">
            <a:avLst/>
          </a:prstGeom>
          <a:noFill/>
          <a:ln/>
        </p:spPr>
        <p:txBody>
          <a:bodyPr wrap="square" rtlCol="0" anchor="ctr"/>
          <a:lstStyle/>
          <a:p>
            <a:pPr algn="ctr" indent="0" marL="0">
              <a:buNone/>
            </a:pPr>
            <a:r>
              <a:rPr lang="en-US" sz="4000" b="1" dirty="0">
                <a:solidFill>
                  <a:srgbClr val="2E5A8C"/>
                </a:solidFill>
                <a:latin typeface="Georgia" pitchFamily="34" charset="0"/>
                <a:ea typeface="Georgia" pitchFamily="34" charset="-122"/>
                <a:cs typeface="Georgia" pitchFamily="34" charset="-120"/>
              </a:rPr>
              <a:t>70%</a:t>
            </a:r>
            <a:endParaRPr lang="en-US" sz="4000" dirty="0"/>
          </a:p>
        </p:txBody>
      </p:sp>
      <p:sp>
        <p:nvSpPr>
          <p:cNvPr id="11" name="Text 9"/>
          <p:cNvSpPr/>
          <p:nvPr/>
        </p:nvSpPr>
        <p:spPr>
          <a:xfrm>
            <a:off x="6217920" y="2103120"/>
            <a:ext cx="2743200" cy="548640"/>
          </a:xfrm>
          <a:prstGeom prst="rect">
            <a:avLst/>
          </a:prstGeom>
          <a:noFill/>
          <a:ln/>
        </p:spPr>
        <p:txBody>
          <a:bodyPr wrap="square" rtlCol="0" anchor="ctr"/>
          <a:lstStyle/>
          <a:p>
            <a:pPr algn="ctr" indent="0" marL="0">
              <a:buNone/>
            </a:pPr>
            <a:r>
              <a:rPr lang="en-US" sz="1200" dirty="0">
                <a:solidFill>
                  <a:srgbClr val="E7E8D1"/>
                </a:solidFill>
                <a:latin typeface="Calibri" pitchFamily="34" charset="0"/>
                <a:ea typeface="Calibri" pitchFamily="34" charset="-122"/>
                <a:cs typeface="Calibri" pitchFamily="34" charset="-120"/>
              </a:rPr>
              <a:t>Behavior change</a:t>
            </a:r>
            <a:endParaRPr lang="en-US" sz="1200" dirty="0"/>
          </a:p>
          <a:p>
            <a:pPr algn="ctr" indent="0" marL="0">
              <a:buNone/>
            </a:pPr>
            <a:r>
              <a:rPr lang="en-US" sz="1200" dirty="0">
                <a:solidFill>
                  <a:srgbClr val="E7E8D1"/>
                </a:solidFill>
                <a:latin typeface="Calibri" pitchFamily="34" charset="0"/>
                <a:ea typeface="Calibri" pitchFamily="34" charset="-122"/>
                <a:cs typeface="Calibri" pitchFamily="34" charset="-120"/>
              </a:rPr>
              <a:t>(schedule adjustment)</a:t>
            </a:r>
            <a:endParaRPr lang="en-US" sz="1200" dirty="0"/>
          </a:p>
        </p:txBody>
      </p:sp>
      <p:sp>
        <p:nvSpPr>
          <p:cNvPr id="12" name="Text 10"/>
          <p:cNvSpPr/>
          <p:nvPr/>
        </p:nvSpPr>
        <p:spPr>
          <a:xfrm>
            <a:off x="457200" y="3017520"/>
            <a:ext cx="4114800" cy="36576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Measurement Approach</a:t>
            </a:r>
            <a:endParaRPr lang="en-US" sz="1800" dirty="0"/>
          </a:p>
        </p:txBody>
      </p:sp>
      <p:sp>
        <p:nvSpPr>
          <p:cNvPr id="13" name="Text 11"/>
          <p:cNvSpPr/>
          <p:nvPr/>
        </p:nvSpPr>
        <p:spPr>
          <a:xfrm>
            <a:off x="457200" y="3429000"/>
            <a:ext cx="4114800" cy="1371600"/>
          </a:xfrm>
          <a:prstGeom prst="rect">
            <a:avLst/>
          </a:prstGeom>
          <a:noFill/>
          <a:ln/>
        </p:spPr>
        <p:txBody>
          <a:bodyPr wrap="square" rtlCol="0" anchor="ctr"/>
          <a:lstStyle/>
          <a:p>
            <a:pPr marL="342900" indent="-342900">
              <a:spcAft>
                <a:spcPts val="600"/>
              </a:spcAft>
              <a:buSzPct val="100000"/>
              <a:buChar char="•"/>
            </a:pPr>
            <a:r>
              <a:rPr lang="en-US" sz="1200" dirty="0">
                <a:solidFill>
                  <a:srgbClr val="E7E8D1"/>
                </a:solidFill>
                <a:latin typeface="Calibri" pitchFamily="34" charset="0"/>
                <a:ea typeface="Calibri" pitchFamily="34" charset="-122"/>
                <a:cs typeface="Calibri" pitchFamily="34" charset="-120"/>
              </a:rPr>
              <a:t>Platform analytics (registration, engagement)</a:t>
            </a:r>
            <a:endParaRPr lang="en-US" sz="1200" dirty="0"/>
          </a:p>
          <a:p>
            <a:pPr marL="342900" indent="-342900">
              <a:spcAft>
                <a:spcPts val="600"/>
              </a:spcAft>
              <a:buSzPct val="100000"/>
              <a:buChar char="•"/>
            </a:pPr>
            <a:r>
              <a:rPr lang="en-US" sz="1200" dirty="0">
                <a:solidFill>
                  <a:srgbClr val="E7E8D1"/>
                </a:solidFill>
                <a:latin typeface="Calibri" pitchFamily="34" charset="0"/>
                <a:ea typeface="Calibri" pitchFamily="34" charset="-122"/>
                <a:cs typeface="Calibri" pitchFamily="34" charset="-120"/>
              </a:rPr>
              <a:t>Baseline/midline/endline surveys</a:t>
            </a:r>
            <a:endParaRPr lang="en-US" sz="1200" dirty="0"/>
          </a:p>
          <a:p>
            <a:pPr marL="342900" indent="-342900">
              <a:spcAft>
                <a:spcPts val="600"/>
              </a:spcAft>
              <a:buSzPct val="100000"/>
              <a:buChar char="•"/>
            </a:pPr>
            <a:r>
              <a:rPr lang="en-US" sz="1200" dirty="0">
                <a:solidFill>
                  <a:srgbClr val="E7E8D1"/>
                </a:solidFill>
                <a:latin typeface="Calibri" pitchFamily="34" charset="0"/>
                <a:ea typeface="Calibri" pitchFamily="34" charset="-122"/>
                <a:cs typeface="Calibri" pitchFamily="34" charset="-120"/>
              </a:rPr>
              <a:t>SMS check-ins on symptoms &amp; behavior</a:t>
            </a:r>
            <a:endParaRPr lang="en-US" sz="1200" dirty="0"/>
          </a:p>
          <a:p>
            <a:pPr marL="342900" indent="-342900">
              <a:spcAft>
                <a:spcPts val="600"/>
              </a:spcAft>
              <a:buSzPct val="100000"/>
              <a:buChar char="•"/>
            </a:pPr>
            <a:r>
              <a:rPr lang="en-US" sz="1200" dirty="0">
                <a:solidFill>
                  <a:srgbClr val="E7E8D1"/>
                </a:solidFill>
                <a:latin typeface="Calibri" pitchFamily="34" charset="0"/>
                <a:ea typeface="Calibri" pitchFamily="34" charset="-122"/>
                <a:cs typeface="Calibri" pitchFamily="34" charset="-120"/>
              </a:rPr>
              <a:t>Focus groups with cooperatives</a:t>
            </a:r>
            <a:endParaRPr lang="en-US" sz="1200" dirty="0"/>
          </a:p>
        </p:txBody>
      </p:sp>
      <p:sp>
        <p:nvSpPr>
          <p:cNvPr id="14" name="Shape 12"/>
          <p:cNvSpPr/>
          <p:nvPr/>
        </p:nvSpPr>
        <p:spPr>
          <a:xfrm>
            <a:off x="4754880" y="3017520"/>
            <a:ext cx="3931920" cy="1828800"/>
          </a:xfrm>
          <a:prstGeom prst="rect">
            <a:avLst/>
          </a:prstGeom>
          <a:solidFill>
            <a:srgbClr val="2D6A4F">
              <a:alpha val="20000"/>
            </a:srgbClr>
          </a:solidFill>
          <a:ln/>
        </p:spPr>
        <p:txBody>
          <a:bodyPr/>
          <a:p/>
        </p:txBody>
      </p:sp>
      <p:sp>
        <p:nvSpPr>
          <p:cNvPr id="15" name="Text 13"/>
          <p:cNvSpPr/>
          <p:nvPr/>
        </p:nvSpPr>
        <p:spPr>
          <a:xfrm>
            <a:off x="4937760" y="3154680"/>
            <a:ext cx="3566160" cy="36576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Evidence Base</a:t>
            </a:r>
            <a:endParaRPr lang="en-US" sz="1600" dirty="0"/>
          </a:p>
        </p:txBody>
      </p:sp>
      <p:sp>
        <p:nvSpPr>
          <p:cNvPr id="16" name="Text 14"/>
          <p:cNvSpPr/>
          <p:nvPr/>
        </p:nvSpPr>
        <p:spPr>
          <a:xfrm>
            <a:off x="4937760" y="3566160"/>
            <a:ext cx="3566160" cy="54864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2,230:1</a:t>
            </a:r>
            <a:endParaRPr lang="en-US" sz="3200" dirty="0"/>
          </a:p>
        </p:txBody>
      </p:sp>
      <p:sp>
        <p:nvSpPr>
          <p:cNvPr id="17" name="Text 15"/>
          <p:cNvSpPr/>
          <p:nvPr/>
        </p:nvSpPr>
        <p:spPr>
          <a:xfrm>
            <a:off x="4937760" y="4114800"/>
            <a:ext cx="3566160" cy="548640"/>
          </a:xfrm>
          <a:prstGeom prst="rect">
            <a:avLst/>
          </a:prstGeom>
          <a:noFill/>
          <a:ln/>
        </p:spPr>
        <p:txBody>
          <a:bodyPr wrap="square" rtlCol="0" anchor="ctr"/>
          <a:lstStyle/>
          <a:p>
            <a:pPr indent="0" marL="0">
              <a:buNone/>
            </a:pPr>
            <a:r>
              <a:rPr lang="en-US" sz="1100" dirty="0">
                <a:solidFill>
                  <a:srgbClr val="E7E8D1"/>
                </a:solidFill>
                <a:latin typeface="Calibri" pitchFamily="34" charset="0"/>
                <a:ea typeface="Calibri" pitchFamily="34" charset="-122"/>
                <a:cs typeface="Calibri" pitchFamily="34" charset="-120"/>
              </a:rPr>
              <a:t>Benefit-cost ratio for heat warning systems</a:t>
            </a:r>
            <a:endParaRPr lang="en-US" sz="1100" dirty="0"/>
          </a:p>
          <a:p>
            <a:pPr indent="0" marL="0">
              <a:buNone/>
            </a:pPr>
            <a:r>
              <a:rPr lang="en-US" sz="1100" dirty="0">
                <a:solidFill>
                  <a:srgbClr val="E7E8D1"/>
                </a:solidFill>
                <a:latin typeface="Calibri" pitchFamily="34" charset="0"/>
                <a:ea typeface="Calibri" pitchFamily="34" charset="-122"/>
                <a:cs typeface="Calibri" pitchFamily="34" charset="-120"/>
              </a:rPr>
              <a:t>(Philadelphia study)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3600" b="1" dirty="0">
                <a:solidFill>
                  <a:srgbClr val="1A1A2E"/>
                </a:solidFill>
                <a:latin typeface="Georgia" pitchFamily="34" charset="0"/>
                <a:ea typeface="Georgia" pitchFamily="34" charset="-122"/>
                <a:cs typeface="Georgia" pitchFamily="34" charset="-120"/>
              </a:rPr>
              <a:t>12-Month Roadmap</a:t>
            </a:r>
            <a:endParaRPr lang="en-US" sz="3600" dirty="0"/>
          </a:p>
        </p:txBody>
      </p:sp>
      <p:sp>
        <p:nvSpPr>
          <p:cNvPr id="3" name="Shape 1"/>
          <p:cNvSpPr/>
          <p:nvPr/>
        </p:nvSpPr>
        <p:spPr>
          <a:xfrm>
            <a:off x="457200" y="1005840"/>
            <a:ext cx="2011680" cy="3474720"/>
          </a:xfrm>
          <a:prstGeom prst="rect">
            <a:avLst/>
          </a:prstGeom>
          <a:solidFill>
            <a:srgbClr val="FFFFFF"/>
          </a:solidFill>
          <a:ln/>
          <a:effectLst>
            <a:outerShdw sx="100000" sy="100000" kx="0" ky="0" algn="bl" rotWithShape="0" blurRad="101600" dist="38100" dir="8100000">
              <a:srgbClr val="000000">
                <a:alpha val="12000"/>
              </a:srgbClr>
            </a:outerShdw>
          </a:effectLst>
        </p:spPr>
        <p:txBody>
          <a:bodyPr/>
          <a:p/>
        </p:txBody>
      </p:sp>
      <p:sp>
        <p:nvSpPr>
          <p:cNvPr id="4" name="Shape 2"/>
          <p:cNvSpPr/>
          <p:nvPr/>
        </p:nvSpPr>
        <p:spPr>
          <a:xfrm>
            <a:off x="457200" y="1005840"/>
            <a:ext cx="2011680" cy="548640"/>
          </a:xfrm>
          <a:prstGeom prst="rect">
            <a:avLst/>
          </a:prstGeom>
          <a:solidFill>
            <a:srgbClr val="2E5A8C"/>
          </a:solidFill>
          <a:ln/>
        </p:spPr>
        <p:txBody>
          <a:bodyPr/>
          <a:p/>
        </p:txBody>
      </p:sp>
      <p:sp>
        <p:nvSpPr>
          <p:cNvPr id="5" name="Text 3"/>
          <p:cNvSpPr/>
          <p:nvPr/>
        </p:nvSpPr>
        <p:spPr>
          <a:xfrm>
            <a:off x="457200" y="1051560"/>
            <a:ext cx="2011680" cy="2286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Months 1-3</a:t>
            </a:r>
            <a:endParaRPr lang="en-US" sz="1000" dirty="0"/>
          </a:p>
        </p:txBody>
      </p:sp>
      <p:sp>
        <p:nvSpPr>
          <p:cNvPr id="6" name="Text 4"/>
          <p:cNvSpPr/>
          <p:nvPr/>
        </p:nvSpPr>
        <p:spPr>
          <a:xfrm>
            <a:off x="457200" y="1280160"/>
            <a:ext cx="2011680" cy="27432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Foundation</a:t>
            </a:r>
            <a:endParaRPr lang="en-US" sz="1400" dirty="0"/>
          </a:p>
        </p:txBody>
      </p:sp>
      <p:sp>
        <p:nvSpPr>
          <p:cNvPr id="7" name="Text 5"/>
          <p:cNvSpPr/>
          <p:nvPr/>
        </p:nvSpPr>
        <p:spPr>
          <a:xfrm>
            <a:off x="594360" y="1691640"/>
            <a:ext cx="1737360" cy="2560320"/>
          </a:xfrm>
          <a:prstGeom prst="rect">
            <a:avLst/>
          </a:prstGeom>
          <a:noFill/>
          <a:ln/>
        </p:spPr>
        <p:txBody>
          <a:bodyPr wrap="square" rtlCol="0" anchor="ctr"/>
          <a:lstStyle/>
          <a:p>
            <a:pPr marL="342900" indent="-342900">
              <a:spcAft>
                <a:spcPts val="800"/>
              </a:spcAft>
              <a:buSzPct val="100000"/>
              <a:buChar char="•"/>
            </a:pPr>
            <a:r>
              <a:rPr lang="en-US" sz="1000" dirty="0">
                <a:solidFill>
                  <a:srgbClr val="666666"/>
                </a:solidFill>
                <a:latin typeface="Calibri" pitchFamily="34" charset="0"/>
                <a:ea typeface="Calibri" pitchFamily="34" charset="-122"/>
                <a:cs typeface="Calibri" pitchFamily="34" charset="-120"/>
              </a:rPr>
              <a:t>ICPAC integration</a:t>
            </a:r>
            <a:endParaRPr lang="en-US" sz="1000" dirty="0"/>
          </a:p>
          <a:p>
            <a:pPr marL="342900" indent="-342900">
              <a:spcAft>
                <a:spcPts val="800"/>
              </a:spcAft>
              <a:buSzPct val="100000"/>
              <a:buChar char="•"/>
            </a:pPr>
            <a:r>
              <a:rPr lang="en-US" sz="1000" dirty="0">
                <a:solidFill>
                  <a:srgbClr val="666666"/>
                </a:solidFill>
                <a:latin typeface="Calibri" pitchFamily="34" charset="0"/>
                <a:ea typeface="Calibri" pitchFamily="34" charset="-122"/>
                <a:cs typeface="Calibri" pitchFamily="34" charset="-120"/>
              </a:rPr>
              <a:t>USSD development</a:t>
            </a:r>
            <a:endParaRPr lang="en-US" sz="1000" dirty="0"/>
          </a:p>
          <a:p>
            <a:pPr marL="342900" indent="-342900">
              <a:spcAft>
                <a:spcPts val="800"/>
              </a:spcAft>
              <a:buSzPct val="100000"/>
              <a:buChar char="•"/>
            </a:pPr>
            <a:r>
              <a:rPr lang="en-US" sz="1000" dirty="0">
                <a:solidFill>
                  <a:srgbClr val="666666"/>
                </a:solidFill>
                <a:latin typeface="Calibri" pitchFamily="34" charset="0"/>
                <a:ea typeface="Calibri" pitchFamily="34" charset="-122"/>
                <a:cs typeface="Calibri" pitchFamily="34" charset="-120"/>
              </a:rPr>
              <a:t>Partner onboarding</a:t>
            </a:r>
            <a:endParaRPr lang="en-US" sz="1000" dirty="0"/>
          </a:p>
          <a:p>
            <a:pPr marL="342900" indent="-342900">
              <a:spcAft>
                <a:spcPts val="800"/>
              </a:spcAft>
              <a:buSzPct val="100000"/>
              <a:buChar char="•"/>
            </a:pPr>
            <a:r>
              <a:rPr lang="en-US" sz="1000" dirty="0">
                <a:solidFill>
                  <a:srgbClr val="666666"/>
                </a:solidFill>
                <a:latin typeface="Calibri" pitchFamily="34" charset="0"/>
                <a:ea typeface="Calibri" pitchFamily="34" charset="-122"/>
                <a:cs typeface="Calibri" pitchFamily="34" charset="-120"/>
              </a:rPr>
              <a:t>10 extension workers trained</a:t>
            </a:r>
            <a:endParaRPr lang="en-US" sz="1000" dirty="0"/>
          </a:p>
        </p:txBody>
      </p:sp>
      <p:sp>
        <p:nvSpPr>
          <p:cNvPr id="8" name="Shape 6"/>
          <p:cNvSpPr/>
          <p:nvPr/>
        </p:nvSpPr>
        <p:spPr>
          <a:xfrm>
            <a:off x="2606040" y="1005840"/>
            <a:ext cx="2011680" cy="3474720"/>
          </a:xfrm>
          <a:prstGeom prst="rect">
            <a:avLst/>
          </a:prstGeom>
          <a:solidFill>
            <a:srgbClr val="FFFFFF"/>
          </a:solidFill>
          <a:ln/>
          <a:effectLst>
            <a:outerShdw sx="100000" sy="100000" kx="0" ky="0" algn="bl" rotWithShape="0" blurRad="101600" dist="38100" dir="8100000">
              <a:srgbClr val="000000">
                <a:alpha val="12000"/>
              </a:srgbClr>
            </a:outerShdw>
          </a:effectLst>
        </p:spPr>
        <p:txBody>
          <a:bodyPr/>
          <a:p/>
        </p:txBody>
      </p:sp>
      <p:sp>
        <p:nvSpPr>
          <p:cNvPr id="9" name="Shape 7"/>
          <p:cNvSpPr/>
          <p:nvPr/>
        </p:nvSpPr>
        <p:spPr>
          <a:xfrm>
            <a:off x="2606040" y="1005840"/>
            <a:ext cx="2011680" cy="548640"/>
          </a:xfrm>
          <a:prstGeom prst="rect">
            <a:avLst/>
          </a:prstGeom>
          <a:solidFill>
            <a:srgbClr val="B85042"/>
          </a:solidFill>
          <a:ln/>
        </p:spPr>
        <p:txBody>
          <a:bodyPr/>
          <a:p/>
        </p:txBody>
      </p:sp>
      <p:sp>
        <p:nvSpPr>
          <p:cNvPr id="10" name="Text 8"/>
          <p:cNvSpPr/>
          <p:nvPr/>
        </p:nvSpPr>
        <p:spPr>
          <a:xfrm>
            <a:off x="2606040" y="1051560"/>
            <a:ext cx="2011680" cy="2286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Months 4-6</a:t>
            </a:r>
            <a:endParaRPr lang="en-US" sz="1000" dirty="0"/>
          </a:p>
        </p:txBody>
      </p:sp>
      <p:sp>
        <p:nvSpPr>
          <p:cNvPr id="11" name="Text 9"/>
          <p:cNvSpPr/>
          <p:nvPr/>
        </p:nvSpPr>
        <p:spPr>
          <a:xfrm>
            <a:off x="2606040" y="1280160"/>
            <a:ext cx="2011680" cy="27432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Pilot</a:t>
            </a:r>
            <a:endParaRPr lang="en-US" sz="1400" dirty="0"/>
          </a:p>
        </p:txBody>
      </p:sp>
      <p:sp>
        <p:nvSpPr>
          <p:cNvPr id="12" name="Text 10"/>
          <p:cNvSpPr/>
          <p:nvPr/>
        </p:nvSpPr>
        <p:spPr>
          <a:xfrm>
            <a:off x="2743200" y="1691640"/>
            <a:ext cx="1737360" cy="2560320"/>
          </a:xfrm>
          <a:prstGeom prst="rect">
            <a:avLst/>
          </a:prstGeom>
          <a:noFill/>
          <a:ln/>
        </p:spPr>
        <p:txBody>
          <a:bodyPr wrap="square" rtlCol="0" anchor="ctr"/>
          <a:lstStyle/>
          <a:p>
            <a:pPr marL="342900" indent="-342900">
              <a:spcAft>
                <a:spcPts val="800"/>
              </a:spcAft>
              <a:buSzPct val="100000"/>
              <a:buChar char="•"/>
            </a:pPr>
            <a:r>
              <a:rPr lang="en-US" sz="1000" dirty="0">
                <a:solidFill>
                  <a:srgbClr val="666666"/>
                </a:solidFill>
                <a:latin typeface="Calibri" pitchFamily="34" charset="0"/>
                <a:ea typeface="Calibri" pitchFamily="34" charset="-122"/>
                <a:cs typeface="Calibri" pitchFamily="34" charset="-120"/>
              </a:rPr>
              <a:t>2,000 farmers registered</a:t>
            </a:r>
            <a:endParaRPr lang="en-US" sz="1000" dirty="0"/>
          </a:p>
          <a:p>
            <a:pPr marL="342900" indent="-342900">
              <a:spcAft>
                <a:spcPts val="800"/>
              </a:spcAft>
              <a:buSzPct val="100000"/>
              <a:buChar char="•"/>
            </a:pPr>
            <a:r>
              <a:rPr lang="en-US" sz="1000" dirty="0">
                <a:solidFill>
                  <a:srgbClr val="666666"/>
                </a:solidFill>
                <a:latin typeface="Calibri" pitchFamily="34" charset="0"/>
                <a:ea typeface="Calibri" pitchFamily="34" charset="-122"/>
                <a:cs typeface="Calibri" pitchFamily="34" charset="-120"/>
              </a:rPr>
              <a:t>Android app launch</a:t>
            </a:r>
            <a:endParaRPr lang="en-US" sz="1000" dirty="0"/>
          </a:p>
          <a:p>
            <a:pPr marL="342900" indent="-342900">
              <a:spcAft>
                <a:spcPts val="800"/>
              </a:spcAft>
              <a:buSzPct val="100000"/>
              <a:buChar char="•"/>
            </a:pPr>
            <a:r>
              <a:rPr lang="en-US" sz="1000" dirty="0">
                <a:solidFill>
                  <a:srgbClr val="666666"/>
                </a:solidFill>
                <a:latin typeface="Calibri" pitchFamily="34" charset="0"/>
                <a:ea typeface="Calibri" pitchFamily="34" charset="-122"/>
                <a:cs typeface="Calibri" pitchFamily="34" charset="-120"/>
              </a:rPr>
              <a:t>Baseline surveys</a:t>
            </a:r>
            <a:endParaRPr lang="en-US" sz="1000" dirty="0"/>
          </a:p>
          <a:p>
            <a:pPr marL="342900" indent="-342900">
              <a:spcAft>
                <a:spcPts val="800"/>
              </a:spcAft>
              <a:buSzPct val="100000"/>
              <a:buChar char="•"/>
            </a:pPr>
            <a:r>
              <a:rPr lang="en-US" sz="1000" dirty="0">
                <a:solidFill>
                  <a:srgbClr val="666666"/>
                </a:solidFill>
                <a:latin typeface="Calibri" pitchFamily="34" charset="0"/>
                <a:ea typeface="Calibri" pitchFamily="34" charset="-122"/>
                <a:cs typeface="Calibri" pitchFamily="34" charset="-120"/>
              </a:rPr>
              <a:t>Iteration cycle</a:t>
            </a:r>
            <a:endParaRPr lang="en-US" sz="1000" dirty="0"/>
          </a:p>
        </p:txBody>
      </p:sp>
      <p:sp>
        <p:nvSpPr>
          <p:cNvPr id="13" name="Shape 11"/>
          <p:cNvSpPr/>
          <p:nvPr/>
        </p:nvSpPr>
        <p:spPr>
          <a:xfrm>
            <a:off x="4754880" y="1005840"/>
            <a:ext cx="2011680" cy="3474720"/>
          </a:xfrm>
          <a:prstGeom prst="rect">
            <a:avLst/>
          </a:prstGeom>
          <a:solidFill>
            <a:srgbClr val="FFFFFF"/>
          </a:solidFill>
          <a:ln/>
          <a:effectLst>
            <a:outerShdw sx="100000" sy="100000" kx="0" ky="0" algn="bl" rotWithShape="0" blurRad="101600" dist="38100" dir="8100000">
              <a:srgbClr val="000000">
                <a:alpha val="12000"/>
              </a:srgbClr>
            </a:outerShdw>
          </a:effectLst>
        </p:spPr>
        <p:txBody>
          <a:bodyPr/>
          <a:p/>
        </p:txBody>
      </p:sp>
      <p:sp>
        <p:nvSpPr>
          <p:cNvPr id="14" name="Shape 12"/>
          <p:cNvSpPr/>
          <p:nvPr/>
        </p:nvSpPr>
        <p:spPr>
          <a:xfrm>
            <a:off x="4754880" y="1005840"/>
            <a:ext cx="2011680" cy="548640"/>
          </a:xfrm>
          <a:prstGeom prst="rect">
            <a:avLst/>
          </a:prstGeom>
          <a:solidFill>
            <a:srgbClr val="E85D04"/>
          </a:solidFill>
          <a:ln/>
        </p:spPr>
        <p:txBody>
          <a:bodyPr/>
          <a:p/>
        </p:txBody>
      </p:sp>
      <p:sp>
        <p:nvSpPr>
          <p:cNvPr id="15" name="Text 13"/>
          <p:cNvSpPr/>
          <p:nvPr/>
        </p:nvSpPr>
        <p:spPr>
          <a:xfrm>
            <a:off x="4754880" y="1051560"/>
            <a:ext cx="2011680" cy="2286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Months 7-9</a:t>
            </a:r>
            <a:endParaRPr lang="en-US" sz="1000" dirty="0"/>
          </a:p>
        </p:txBody>
      </p:sp>
      <p:sp>
        <p:nvSpPr>
          <p:cNvPr id="16" name="Text 14"/>
          <p:cNvSpPr/>
          <p:nvPr/>
        </p:nvSpPr>
        <p:spPr>
          <a:xfrm>
            <a:off x="4754880" y="1280160"/>
            <a:ext cx="2011680" cy="27432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Scale</a:t>
            </a:r>
            <a:endParaRPr lang="en-US" sz="1400" dirty="0"/>
          </a:p>
        </p:txBody>
      </p:sp>
      <p:sp>
        <p:nvSpPr>
          <p:cNvPr id="17" name="Text 15"/>
          <p:cNvSpPr/>
          <p:nvPr/>
        </p:nvSpPr>
        <p:spPr>
          <a:xfrm>
            <a:off x="4892040" y="1691640"/>
            <a:ext cx="1737360" cy="2560320"/>
          </a:xfrm>
          <a:prstGeom prst="rect">
            <a:avLst/>
          </a:prstGeom>
          <a:noFill/>
          <a:ln/>
        </p:spPr>
        <p:txBody>
          <a:bodyPr wrap="square" rtlCol="0" anchor="ctr"/>
          <a:lstStyle/>
          <a:p>
            <a:pPr marL="342900" indent="-342900">
              <a:spcAft>
                <a:spcPts val="800"/>
              </a:spcAft>
              <a:buSzPct val="100000"/>
              <a:buChar char="•"/>
            </a:pPr>
            <a:r>
              <a:rPr lang="en-US" sz="1000" dirty="0">
                <a:solidFill>
                  <a:srgbClr val="666666"/>
                </a:solidFill>
                <a:latin typeface="Calibri" pitchFamily="34" charset="0"/>
                <a:ea typeface="Calibri" pitchFamily="34" charset="-122"/>
                <a:cs typeface="Calibri" pitchFamily="34" charset="-120"/>
              </a:rPr>
              <a:t>10,000 farmers</a:t>
            </a:r>
            <a:endParaRPr lang="en-US" sz="1000" dirty="0"/>
          </a:p>
          <a:p>
            <a:pPr marL="342900" indent="-342900">
              <a:spcAft>
                <a:spcPts val="800"/>
              </a:spcAft>
              <a:buSzPct val="100000"/>
              <a:buChar char="•"/>
            </a:pPr>
            <a:r>
              <a:rPr lang="en-US" sz="1000" dirty="0">
                <a:solidFill>
                  <a:srgbClr val="666666"/>
                </a:solidFill>
                <a:latin typeface="Calibri" pitchFamily="34" charset="0"/>
                <a:ea typeface="Calibri" pitchFamily="34" charset="-122"/>
                <a:cs typeface="Calibri" pitchFamily="34" charset="-120"/>
              </a:rPr>
              <a:t>5 districts</a:t>
            </a:r>
            <a:endParaRPr lang="en-US" sz="1000" dirty="0"/>
          </a:p>
          <a:p>
            <a:pPr marL="342900" indent="-342900">
              <a:spcAft>
                <a:spcPts val="800"/>
              </a:spcAft>
              <a:buSzPct val="100000"/>
              <a:buChar char="•"/>
            </a:pPr>
            <a:r>
              <a:rPr lang="en-US" sz="1000" dirty="0">
                <a:solidFill>
                  <a:srgbClr val="666666"/>
                </a:solidFill>
                <a:latin typeface="Calibri" pitchFamily="34" charset="0"/>
                <a:ea typeface="Calibri" pitchFamily="34" charset="-122"/>
                <a:cs typeface="Calibri" pitchFamily="34" charset="-120"/>
              </a:rPr>
              <a:t>Local language support</a:t>
            </a:r>
            <a:endParaRPr lang="en-US" sz="1000" dirty="0"/>
          </a:p>
          <a:p>
            <a:pPr marL="342900" indent="-342900">
              <a:spcAft>
                <a:spcPts val="800"/>
              </a:spcAft>
              <a:buSzPct val="100000"/>
              <a:buChar char="•"/>
            </a:pPr>
            <a:r>
              <a:rPr lang="en-US" sz="1000" dirty="0">
                <a:solidFill>
                  <a:srgbClr val="666666"/>
                </a:solidFill>
                <a:latin typeface="Calibri" pitchFamily="34" charset="0"/>
                <a:ea typeface="Calibri" pitchFamily="34" charset="-122"/>
                <a:cs typeface="Calibri" pitchFamily="34" charset="-120"/>
              </a:rPr>
              <a:t>Midline assessment</a:t>
            </a:r>
            <a:endParaRPr lang="en-US" sz="1000" dirty="0"/>
          </a:p>
        </p:txBody>
      </p:sp>
      <p:sp>
        <p:nvSpPr>
          <p:cNvPr id="18" name="Shape 16"/>
          <p:cNvSpPr/>
          <p:nvPr/>
        </p:nvSpPr>
        <p:spPr>
          <a:xfrm>
            <a:off x="6903720" y="1005840"/>
            <a:ext cx="2011680" cy="3474720"/>
          </a:xfrm>
          <a:prstGeom prst="rect">
            <a:avLst/>
          </a:prstGeom>
          <a:solidFill>
            <a:srgbClr val="FFFFFF"/>
          </a:solidFill>
          <a:ln/>
          <a:effectLst>
            <a:outerShdw sx="100000" sy="100000" kx="0" ky="0" algn="bl" rotWithShape="0" blurRad="101600" dist="38100" dir="8100000">
              <a:srgbClr val="000000">
                <a:alpha val="12000"/>
              </a:srgbClr>
            </a:outerShdw>
          </a:effectLst>
        </p:spPr>
        <p:txBody>
          <a:bodyPr/>
          <a:p/>
        </p:txBody>
      </p:sp>
      <p:sp>
        <p:nvSpPr>
          <p:cNvPr id="19" name="Shape 17"/>
          <p:cNvSpPr/>
          <p:nvPr/>
        </p:nvSpPr>
        <p:spPr>
          <a:xfrm>
            <a:off x="6903720" y="1005840"/>
            <a:ext cx="2011680" cy="548640"/>
          </a:xfrm>
          <a:prstGeom prst="rect">
            <a:avLst/>
          </a:prstGeom>
          <a:solidFill>
            <a:srgbClr val="2D6A4F"/>
          </a:solidFill>
          <a:ln/>
        </p:spPr>
        <p:txBody>
          <a:bodyPr/>
          <a:p/>
        </p:txBody>
      </p:sp>
      <p:sp>
        <p:nvSpPr>
          <p:cNvPr id="20" name="Text 18"/>
          <p:cNvSpPr/>
          <p:nvPr/>
        </p:nvSpPr>
        <p:spPr>
          <a:xfrm>
            <a:off x="6903720" y="1051560"/>
            <a:ext cx="2011680" cy="2286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Months 10-12</a:t>
            </a:r>
            <a:endParaRPr lang="en-US" sz="1000" dirty="0"/>
          </a:p>
        </p:txBody>
      </p:sp>
      <p:sp>
        <p:nvSpPr>
          <p:cNvPr id="21" name="Text 19"/>
          <p:cNvSpPr/>
          <p:nvPr/>
        </p:nvSpPr>
        <p:spPr>
          <a:xfrm>
            <a:off x="6903720" y="1280160"/>
            <a:ext cx="2011680" cy="27432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Validate</a:t>
            </a:r>
            <a:endParaRPr lang="en-US" sz="1400" dirty="0"/>
          </a:p>
        </p:txBody>
      </p:sp>
      <p:sp>
        <p:nvSpPr>
          <p:cNvPr id="22" name="Text 20"/>
          <p:cNvSpPr/>
          <p:nvPr/>
        </p:nvSpPr>
        <p:spPr>
          <a:xfrm>
            <a:off x="7040880" y="1691640"/>
            <a:ext cx="1737360" cy="2560320"/>
          </a:xfrm>
          <a:prstGeom prst="rect">
            <a:avLst/>
          </a:prstGeom>
          <a:noFill/>
          <a:ln/>
        </p:spPr>
        <p:txBody>
          <a:bodyPr wrap="square" rtlCol="0" anchor="ctr"/>
          <a:lstStyle/>
          <a:p>
            <a:pPr marL="342900" indent="-342900">
              <a:spcAft>
                <a:spcPts val="800"/>
              </a:spcAft>
              <a:buSzPct val="100000"/>
              <a:buChar char="•"/>
            </a:pPr>
            <a:r>
              <a:rPr lang="en-US" sz="1000" dirty="0">
                <a:solidFill>
                  <a:srgbClr val="666666"/>
                </a:solidFill>
                <a:latin typeface="Calibri" pitchFamily="34" charset="0"/>
                <a:ea typeface="Calibri" pitchFamily="34" charset="-122"/>
                <a:cs typeface="Calibri" pitchFamily="34" charset="-120"/>
              </a:rPr>
              <a:t>Impact evaluation</a:t>
            </a:r>
            <a:endParaRPr lang="en-US" sz="1000" dirty="0"/>
          </a:p>
          <a:p>
            <a:pPr marL="342900" indent="-342900">
              <a:spcAft>
                <a:spcPts val="800"/>
              </a:spcAft>
              <a:buSzPct val="100000"/>
              <a:buChar char="•"/>
            </a:pPr>
            <a:r>
              <a:rPr lang="en-US" sz="1000" dirty="0">
                <a:solidFill>
                  <a:srgbClr val="666666"/>
                </a:solidFill>
                <a:latin typeface="Calibri" pitchFamily="34" charset="0"/>
                <a:ea typeface="Calibri" pitchFamily="34" charset="-122"/>
                <a:cs typeface="Calibri" pitchFamily="34" charset="-120"/>
              </a:rPr>
              <a:t>Case studies</a:t>
            </a:r>
            <a:endParaRPr lang="en-US" sz="1000" dirty="0"/>
          </a:p>
          <a:p>
            <a:pPr marL="342900" indent="-342900">
              <a:spcAft>
                <a:spcPts val="800"/>
              </a:spcAft>
              <a:buSzPct val="100000"/>
              <a:buChar char="•"/>
            </a:pPr>
            <a:r>
              <a:rPr lang="en-US" sz="1000" dirty="0">
                <a:solidFill>
                  <a:srgbClr val="666666"/>
                </a:solidFill>
                <a:latin typeface="Calibri" pitchFamily="34" charset="0"/>
                <a:ea typeface="Calibri" pitchFamily="34" charset="-122"/>
                <a:cs typeface="Calibri" pitchFamily="34" charset="-120"/>
              </a:rPr>
              <a:t>Sustainability model</a:t>
            </a:r>
            <a:endParaRPr lang="en-US" sz="1000" dirty="0"/>
          </a:p>
          <a:p>
            <a:pPr marL="342900" indent="-342900">
              <a:spcAft>
                <a:spcPts val="800"/>
              </a:spcAft>
              <a:buSzPct val="100000"/>
              <a:buChar char="•"/>
            </a:pPr>
            <a:r>
              <a:rPr lang="en-US" sz="1000" dirty="0">
                <a:solidFill>
                  <a:srgbClr val="666666"/>
                </a:solidFill>
                <a:latin typeface="Calibri" pitchFamily="34" charset="0"/>
                <a:ea typeface="Calibri" pitchFamily="34" charset="-122"/>
                <a:cs typeface="Calibri" pitchFamily="34" charset="-120"/>
              </a:rPr>
              <a:t>Expansion strategy</a:t>
            </a:r>
            <a:endParaRPr lang="en-US" sz="1000" dirty="0"/>
          </a:p>
        </p:txBody>
      </p:sp>
      <p:sp>
        <p:nvSpPr>
          <p:cNvPr id="23" name="Shape 21"/>
          <p:cNvSpPr/>
          <p:nvPr/>
        </p:nvSpPr>
        <p:spPr>
          <a:xfrm>
            <a:off x="457200" y="4617720"/>
            <a:ext cx="8229600" cy="73152"/>
          </a:xfrm>
          <a:prstGeom prst="rect">
            <a:avLst/>
          </a:prstGeom>
          <a:solidFill>
            <a:srgbClr val="1A1A2E"/>
          </a:solidFill>
          <a:ln/>
        </p:spPr>
        <p:txBody>
          <a:bodyPr/>
          <a:p/>
        </p:txBody>
      </p:sp>
      <p:sp>
        <p:nvSpPr>
          <p:cNvPr id="24" name="Text 22"/>
          <p:cNvSpPr/>
          <p:nvPr/>
        </p:nvSpPr>
        <p:spPr>
          <a:xfrm>
            <a:off x="8412480" y="4434840"/>
            <a:ext cx="457200" cy="457200"/>
          </a:xfrm>
          <a:prstGeom prst="rect">
            <a:avLst/>
          </a:prstGeom>
          <a:noFill/>
          <a:ln/>
        </p:spPr>
        <p:txBody>
          <a:bodyPr wrap="square" rtlCol="0" anchor="ctr"/>
          <a:lstStyle/>
          <a:p>
            <a:pPr indent="0" marL="0">
              <a:buNone/>
            </a:pPr>
            <a:r>
              <a:rPr lang="en-US" sz="2400" dirty="0">
                <a:solidFill>
                  <a:srgbClr val="1A1A2E"/>
                </a:solidFill>
                <a:latin typeface="Calibri" pitchFamily="34" charset="0"/>
                <a:ea typeface="Calibri" pitchFamily="34" charset="-122"/>
                <a:cs typeface="Calibri" pitchFamily="34" charset="-120"/>
              </a:rPr>
              <a:t>→</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3600" b="1" dirty="0">
                <a:solidFill>
                  <a:srgbClr val="1A1A2E"/>
                </a:solidFill>
                <a:latin typeface="Georgia" pitchFamily="34" charset="0"/>
                <a:ea typeface="Georgia" pitchFamily="34" charset="-122"/>
                <a:cs typeface="Georgia" pitchFamily="34" charset="-120"/>
              </a:rPr>
              <a:t>Sustainability Model</a:t>
            </a:r>
            <a:endParaRPr lang="en-US" sz="3600" dirty="0"/>
          </a:p>
        </p:txBody>
      </p:sp>
      <p:sp>
        <p:nvSpPr>
          <p:cNvPr id="3" name="Shape 1"/>
          <p:cNvSpPr/>
          <p:nvPr/>
        </p:nvSpPr>
        <p:spPr>
          <a:xfrm>
            <a:off x="457200" y="1097280"/>
            <a:ext cx="5486400" cy="640080"/>
          </a:xfrm>
          <a:prstGeom prst="rect">
            <a:avLst/>
          </a:prstGeom>
          <a:solidFill>
            <a:srgbClr val="F5F5F5"/>
          </a:solidFill>
          <a:ln/>
        </p:spPr>
        <p:txBody>
          <a:bodyPr/>
          <a:p/>
        </p:txBody>
      </p:sp>
      <p:sp>
        <p:nvSpPr>
          <p:cNvPr id="4" name="Shape 2"/>
          <p:cNvSpPr/>
          <p:nvPr/>
        </p:nvSpPr>
        <p:spPr>
          <a:xfrm>
            <a:off x="457200" y="1097280"/>
            <a:ext cx="2194560" cy="640080"/>
          </a:xfrm>
          <a:prstGeom prst="rect">
            <a:avLst/>
          </a:prstGeom>
          <a:solidFill>
            <a:srgbClr val="2E5A8C">
              <a:alpha val="70000"/>
            </a:srgbClr>
          </a:solidFill>
          <a:ln/>
        </p:spPr>
        <p:txBody>
          <a:bodyPr/>
          <a:p/>
        </p:txBody>
      </p:sp>
      <p:sp>
        <p:nvSpPr>
          <p:cNvPr id="5" name="Text 3"/>
          <p:cNvSpPr/>
          <p:nvPr/>
        </p:nvSpPr>
        <p:spPr>
          <a:xfrm>
            <a:off x="548640" y="1188720"/>
            <a:ext cx="2286000" cy="228600"/>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B2B Dashboards</a:t>
            </a:r>
            <a:endParaRPr lang="en-US" sz="1200" dirty="0"/>
          </a:p>
        </p:txBody>
      </p:sp>
      <p:sp>
        <p:nvSpPr>
          <p:cNvPr id="6" name="Text 4"/>
          <p:cNvSpPr/>
          <p:nvPr/>
        </p:nvSpPr>
        <p:spPr>
          <a:xfrm>
            <a:off x="548640" y="1417320"/>
            <a:ext cx="2286000" cy="22860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Cooperatives, export companies</a:t>
            </a:r>
            <a:endParaRPr lang="en-US" sz="1000" dirty="0"/>
          </a:p>
        </p:txBody>
      </p:sp>
      <p:sp>
        <p:nvSpPr>
          <p:cNvPr id="7" name="Text 5"/>
          <p:cNvSpPr/>
          <p:nvPr/>
        </p:nvSpPr>
        <p:spPr>
          <a:xfrm>
            <a:off x="3017520" y="1280160"/>
            <a:ext cx="1371600" cy="274320"/>
          </a:xfrm>
          <a:prstGeom prst="rect">
            <a:avLst/>
          </a:prstGeom>
          <a:noFill/>
          <a:ln/>
        </p:spPr>
        <p:txBody>
          <a:bodyPr wrap="square" rtlCol="0" anchor="ctr"/>
          <a:lstStyle/>
          <a:p>
            <a:pPr indent="0" marL="0">
              <a:buNone/>
            </a:pPr>
            <a:r>
              <a:rPr lang="en-US" sz="1100" dirty="0">
                <a:solidFill>
                  <a:srgbClr val="2E5A8C"/>
                </a:solidFill>
                <a:latin typeface="Calibri" pitchFamily="34" charset="0"/>
                <a:ea typeface="Calibri" pitchFamily="34" charset="-122"/>
                <a:cs typeface="Calibri" pitchFamily="34" charset="-120"/>
              </a:rPr>
              <a:t>$50-200/mo</a:t>
            </a:r>
            <a:endParaRPr lang="en-US" sz="1100" dirty="0"/>
          </a:p>
        </p:txBody>
      </p:sp>
      <p:sp>
        <p:nvSpPr>
          <p:cNvPr id="8" name="Text 6"/>
          <p:cNvSpPr/>
          <p:nvPr/>
        </p:nvSpPr>
        <p:spPr>
          <a:xfrm>
            <a:off x="5029200" y="1234440"/>
            <a:ext cx="731520" cy="365760"/>
          </a:xfrm>
          <a:prstGeom prst="rect">
            <a:avLst/>
          </a:prstGeom>
          <a:noFill/>
          <a:ln/>
        </p:spPr>
        <p:txBody>
          <a:bodyPr wrap="square" rtlCol="0" anchor="ctr"/>
          <a:lstStyle/>
          <a:p>
            <a:pPr algn="r" indent="0" marL="0">
              <a:buNone/>
            </a:pPr>
            <a:r>
              <a:rPr lang="en-US" sz="1400" b="1" dirty="0">
                <a:solidFill>
                  <a:srgbClr val="2E5A8C"/>
                </a:solidFill>
                <a:latin typeface="Georgia" pitchFamily="34" charset="0"/>
                <a:ea typeface="Georgia" pitchFamily="34" charset="-122"/>
                <a:cs typeface="Georgia" pitchFamily="34" charset="-120"/>
              </a:rPr>
              <a:t>40%</a:t>
            </a:r>
            <a:endParaRPr lang="en-US" sz="1400" dirty="0"/>
          </a:p>
        </p:txBody>
      </p:sp>
      <p:sp>
        <p:nvSpPr>
          <p:cNvPr id="9" name="Shape 7"/>
          <p:cNvSpPr/>
          <p:nvPr/>
        </p:nvSpPr>
        <p:spPr>
          <a:xfrm>
            <a:off x="457200" y="1874520"/>
            <a:ext cx="5486400" cy="640080"/>
          </a:xfrm>
          <a:prstGeom prst="rect">
            <a:avLst/>
          </a:prstGeom>
          <a:solidFill>
            <a:srgbClr val="F5F5F5"/>
          </a:solidFill>
          <a:ln/>
        </p:spPr>
        <p:txBody>
          <a:bodyPr/>
          <a:p/>
        </p:txBody>
      </p:sp>
      <p:sp>
        <p:nvSpPr>
          <p:cNvPr id="10" name="Shape 8"/>
          <p:cNvSpPr/>
          <p:nvPr/>
        </p:nvSpPr>
        <p:spPr>
          <a:xfrm>
            <a:off x="457200" y="1874520"/>
            <a:ext cx="1920240" cy="640080"/>
          </a:xfrm>
          <a:prstGeom prst="rect">
            <a:avLst/>
          </a:prstGeom>
          <a:solidFill>
            <a:srgbClr val="2E5A8C">
              <a:alpha val="70000"/>
            </a:srgbClr>
          </a:solidFill>
          <a:ln/>
        </p:spPr>
        <p:txBody>
          <a:bodyPr/>
          <a:p/>
        </p:txBody>
      </p:sp>
      <p:sp>
        <p:nvSpPr>
          <p:cNvPr id="11" name="Text 9"/>
          <p:cNvSpPr/>
          <p:nvPr/>
        </p:nvSpPr>
        <p:spPr>
          <a:xfrm>
            <a:off x="548640" y="1965960"/>
            <a:ext cx="2286000" cy="228600"/>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Institutional Partners</a:t>
            </a:r>
            <a:endParaRPr lang="en-US" sz="1200" dirty="0"/>
          </a:p>
        </p:txBody>
      </p:sp>
      <p:sp>
        <p:nvSpPr>
          <p:cNvPr id="12" name="Text 10"/>
          <p:cNvSpPr/>
          <p:nvPr/>
        </p:nvSpPr>
        <p:spPr>
          <a:xfrm>
            <a:off x="548640" y="2194560"/>
            <a:ext cx="2286000" cy="22860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MAAIF, World Bank, USAID</a:t>
            </a:r>
            <a:endParaRPr lang="en-US" sz="1000" dirty="0"/>
          </a:p>
        </p:txBody>
      </p:sp>
      <p:sp>
        <p:nvSpPr>
          <p:cNvPr id="13" name="Text 11"/>
          <p:cNvSpPr/>
          <p:nvPr/>
        </p:nvSpPr>
        <p:spPr>
          <a:xfrm>
            <a:off x="3017520" y="2057400"/>
            <a:ext cx="1371600" cy="274320"/>
          </a:xfrm>
          <a:prstGeom prst="rect">
            <a:avLst/>
          </a:prstGeom>
          <a:noFill/>
          <a:ln/>
        </p:spPr>
        <p:txBody>
          <a:bodyPr wrap="square" rtlCol="0" anchor="ctr"/>
          <a:lstStyle/>
          <a:p>
            <a:pPr indent="0" marL="0">
              <a:buNone/>
            </a:pPr>
            <a:r>
              <a:rPr lang="en-US" sz="1100" dirty="0">
                <a:solidFill>
                  <a:srgbClr val="2E5A8C"/>
                </a:solidFill>
                <a:latin typeface="Calibri" pitchFamily="34" charset="0"/>
                <a:ea typeface="Calibri" pitchFamily="34" charset="-122"/>
                <a:cs typeface="Calibri" pitchFamily="34" charset="-120"/>
              </a:rPr>
              <a:t>Annual contracts</a:t>
            </a:r>
            <a:endParaRPr lang="en-US" sz="1100" dirty="0"/>
          </a:p>
        </p:txBody>
      </p:sp>
      <p:sp>
        <p:nvSpPr>
          <p:cNvPr id="14" name="Text 12"/>
          <p:cNvSpPr/>
          <p:nvPr/>
        </p:nvSpPr>
        <p:spPr>
          <a:xfrm>
            <a:off x="5029200" y="2011680"/>
            <a:ext cx="731520" cy="365760"/>
          </a:xfrm>
          <a:prstGeom prst="rect">
            <a:avLst/>
          </a:prstGeom>
          <a:noFill/>
          <a:ln/>
        </p:spPr>
        <p:txBody>
          <a:bodyPr wrap="square" rtlCol="0" anchor="ctr"/>
          <a:lstStyle/>
          <a:p>
            <a:pPr algn="r" indent="0" marL="0">
              <a:buNone/>
            </a:pPr>
            <a:r>
              <a:rPr lang="en-US" sz="1400" b="1" dirty="0">
                <a:solidFill>
                  <a:srgbClr val="2E5A8C"/>
                </a:solidFill>
                <a:latin typeface="Georgia" pitchFamily="34" charset="0"/>
                <a:ea typeface="Georgia" pitchFamily="34" charset="-122"/>
                <a:cs typeface="Georgia" pitchFamily="34" charset="-120"/>
              </a:rPr>
              <a:t>35%</a:t>
            </a:r>
            <a:endParaRPr lang="en-US" sz="1400" dirty="0"/>
          </a:p>
        </p:txBody>
      </p:sp>
      <p:sp>
        <p:nvSpPr>
          <p:cNvPr id="15" name="Shape 13"/>
          <p:cNvSpPr/>
          <p:nvPr/>
        </p:nvSpPr>
        <p:spPr>
          <a:xfrm>
            <a:off x="457200" y="2651760"/>
            <a:ext cx="5486400" cy="640080"/>
          </a:xfrm>
          <a:prstGeom prst="rect">
            <a:avLst/>
          </a:prstGeom>
          <a:solidFill>
            <a:srgbClr val="F5F5F5"/>
          </a:solidFill>
          <a:ln/>
        </p:spPr>
        <p:txBody>
          <a:bodyPr/>
          <a:p/>
        </p:txBody>
      </p:sp>
      <p:sp>
        <p:nvSpPr>
          <p:cNvPr id="16" name="Shape 14"/>
          <p:cNvSpPr/>
          <p:nvPr/>
        </p:nvSpPr>
        <p:spPr>
          <a:xfrm>
            <a:off x="457200" y="2651760"/>
            <a:ext cx="1097280" cy="640080"/>
          </a:xfrm>
          <a:prstGeom prst="rect">
            <a:avLst/>
          </a:prstGeom>
          <a:solidFill>
            <a:srgbClr val="2E5A8C">
              <a:alpha val="70000"/>
            </a:srgbClr>
          </a:solidFill>
          <a:ln/>
        </p:spPr>
        <p:txBody>
          <a:bodyPr/>
          <a:p/>
        </p:txBody>
      </p:sp>
      <p:sp>
        <p:nvSpPr>
          <p:cNvPr id="17" name="Text 15"/>
          <p:cNvSpPr/>
          <p:nvPr/>
        </p:nvSpPr>
        <p:spPr>
          <a:xfrm>
            <a:off x="548640" y="2743200"/>
            <a:ext cx="2286000" cy="228600"/>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Climate Finance</a:t>
            </a:r>
            <a:endParaRPr lang="en-US" sz="1200" dirty="0"/>
          </a:p>
        </p:txBody>
      </p:sp>
      <p:sp>
        <p:nvSpPr>
          <p:cNvPr id="18" name="Text 16"/>
          <p:cNvSpPr/>
          <p:nvPr/>
        </p:nvSpPr>
        <p:spPr>
          <a:xfrm>
            <a:off x="548640" y="2971800"/>
            <a:ext cx="2286000" cy="22860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GCF, Adaptation Fund</a:t>
            </a:r>
            <a:endParaRPr lang="en-US" sz="1000" dirty="0"/>
          </a:p>
        </p:txBody>
      </p:sp>
      <p:sp>
        <p:nvSpPr>
          <p:cNvPr id="19" name="Text 17"/>
          <p:cNvSpPr/>
          <p:nvPr/>
        </p:nvSpPr>
        <p:spPr>
          <a:xfrm>
            <a:off x="3017520" y="2834640"/>
            <a:ext cx="1371600" cy="274320"/>
          </a:xfrm>
          <a:prstGeom prst="rect">
            <a:avLst/>
          </a:prstGeom>
          <a:noFill/>
          <a:ln/>
        </p:spPr>
        <p:txBody>
          <a:bodyPr wrap="square" rtlCol="0" anchor="ctr"/>
          <a:lstStyle/>
          <a:p>
            <a:pPr indent="0" marL="0">
              <a:buNone/>
            </a:pPr>
            <a:r>
              <a:rPr lang="en-US" sz="1100" dirty="0">
                <a:solidFill>
                  <a:srgbClr val="2E5A8C"/>
                </a:solidFill>
                <a:latin typeface="Calibri" pitchFamily="34" charset="0"/>
                <a:ea typeface="Calibri" pitchFamily="34" charset="-122"/>
                <a:cs typeface="Calibri" pitchFamily="34" charset="-120"/>
              </a:rPr>
              <a:t>Project grants</a:t>
            </a:r>
            <a:endParaRPr lang="en-US" sz="1100" dirty="0"/>
          </a:p>
        </p:txBody>
      </p:sp>
      <p:sp>
        <p:nvSpPr>
          <p:cNvPr id="20" name="Text 18"/>
          <p:cNvSpPr/>
          <p:nvPr/>
        </p:nvSpPr>
        <p:spPr>
          <a:xfrm>
            <a:off x="5029200" y="2788920"/>
            <a:ext cx="731520" cy="365760"/>
          </a:xfrm>
          <a:prstGeom prst="rect">
            <a:avLst/>
          </a:prstGeom>
          <a:noFill/>
          <a:ln/>
        </p:spPr>
        <p:txBody>
          <a:bodyPr wrap="square" rtlCol="0" anchor="ctr"/>
          <a:lstStyle/>
          <a:p>
            <a:pPr algn="r" indent="0" marL="0">
              <a:buNone/>
            </a:pPr>
            <a:r>
              <a:rPr lang="en-US" sz="1400" b="1" dirty="0">
                <a:solidFill>
                  <a:srgbClr val="2E5A8C"/>
                </a:solidFill>
                <a:latin typeface="Georgia" pitchFamily="34" charset="0"/>
                <a:ea typeface="Georgia" pitchFamily="34" charset="-122"/>
                <a:cs typeface="Georgia" pitchFamily="34" charset="-120"/>
              </a:rPr>
              <a:t>20%</a:t>
            </a:r>
            <a:endParaRPr lang="en-US" sz="1400" dirty="0"/>
          </a:p>
        </p:txBody>
      </p:sp>
      <p:sp>
        <p:nvSpPr>
          <p:cNvPr id="21" name="Shape 19"/>
          <p:cNvSpPr/>
          <p:nvPr/>
        </p:nvSpPr>
        <p:spPr>
          <a:xfrm>
            <a:off x="457200" y="3429000"/>
            <a:ext cx="5486400" cy="640080"/>
          </a:xfrm>
          <a:prstGeom prst="rect">
            <a:avLst/>
          </a:prstGeom>
          <a:solidFill>
            <a:srgbClr val="F5F5F5"/>
          </a:solidFill>
          <a:ln/>
        </p:spPr>
        <p:txBody>
          <a:bodyPr/>
          <a:p/>
        </p:txBody>
      </p:sp>
      <p:sp>
        <p:nvSpPr>
          <p:cNvPr id="22" name="Shape 20"/>
          <p:cNvSpPr/>
          <p:nvPr/>
        </p:nvSpPr>
        <p:spPr>
          <a:xfrm>
            <a:off x="457200" y="3429000"/>
            <a:ext cx="274320" cy="640080"/>
          </a:xfrm>
          <a:prstGeom prst="rect">
            <a:avLst/>
          </a:prstGeom>
          <a:solidFill>
            <a:srgbClr val="2E5A8C">
              <a:alpha val="70000"/>
            </a:srgbClr>
          </a:solidFill>
          <a:ln/>
        </p:spPr>
        <p:txBody>
          <a:bodyPr/>
          <a:p/>
        </p:txBody>
      </p:sp>
      <p:sp>
        <p:nvSpPr>
          <p:cNvPr id="23" name="Text 21"/>
          <p:cNvSpPr/>
          <p:nvPr/>
        </p:nvSpPr>
        <p:spPr>
          <a:xfrm>
            <a:off x="548640" y="3520440"/>
            <a:ext cx="2286000" cy="228600"/>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Value-Added Services</a:t>
            </a:r>
            <a:endParaRPr lang="en-US" sz="1200" dirty="0"/>
          </a:p>
        </p:txBody>
      </p:sp>
      <p:sp>
        <p:nvSpPr>
          <p:cNvPr id="24" name="Text 22"/>
          <p:cNvSpPr/>
          <p:nvPr/>
        </p:nvSpPr>
        <p:spPr>
          <a:xfrm>
            <a:off x="548640" y="3749040"/>
            <a:ext cx="2286000" cy="22860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Crop-specific, insurance integration</a:t>
            </a:r>
            <a:endParaRPr lang="en-US" sz="1000" dirty="0"/>
          </a:p>
        </p:txBody>
      </p:sp>
      <p:sp>
        <p:nvSpPr>
          <p:cNvPr id="25" name="Text 23"/>
          <p:cNvSpPr/>
          <p:nvPr/>
        </p:nvSpPr>
        <p:spPr>
          <a:xfrm>
            <a:off x="3017520" y="3611880"/>
            <a:ext cx="1371600" cy="274320"/>
          </a:xfrm>
          <a:prstGeom prst="rect">
            <a:avLst/>
          </a:prstGeom>
          <a:noFill/>
          <a:ln/>
        </p:spPr>
        <p:txBody>
          <a:bodyPr wrap="square" rtlCol="0" anchor="ctr"/>
          <a:lstStyle/>
          <a:p>
            <a:pPr indent="0" marL="0">
              <a:buNone/>
            </a:pPr>
            <a:r>
              <a:rPr lang="en-US" sz="1100" dirty="0">
                <a:solidFill>
                  <a:srgbClr val="2E5A8C"/>
                </a:solidFill>
                <a:latin typeface="Calibri" pitchFamily="34" charset="0"/>
                <a:ea typeface="Calibri" pitchFamily="34" charset="-122"/>
                <a:cs typeface="Calibri" pitchFamily="34" charset="-120"/>
              </a:rPr>
              <a:t>API fees</a:t>
            </a:r>
            <a:endParaRPr lang="en-US" sz="1100" dirty="0"/>
          </a:p>
        </p:txBody>
      </p:sp>
      <p:sp>
        <p:nvSpPr>
          <p:cNvPr id="26" name="Text 24"/>
          <p:cNvSpPr/>
          <p:nvPr/>
        </p:nvSpPr>
        <p:spPr>
          <a:xfrm>
            <a:off x="5029200" y="3566160"/>
            <a:ext cx="731520" cy="365760"/>
          </a:xfrm>
          <a:prstGeom prst="rect">
            <a:avLst/>
          </a:prstGeom>
          <a:noFill/>
          <a:ln/>
        </p:spPr>
        <p:txBody>
          <a:bodyPr wrap="square" rtlCol="0" anchor="ctr"/>
          <a:lstStyle/>
          <a:p>
            <a:pPr algn="r" indent="0" marL="0">
              <a:buNone/>
            </a:pPr>
            <a:r>
              <a:rPr lang="en-US" sz="1400" b="1" dirty="0">
                <a:solidFill>
                  <a:srgbClr val="2E5A8C"/>
                </a:solidFill>
                <a:latin typeface="Georgia" pitchFamily="34" charset="0"/>
                <a:ea typeface="Georgia" pitchFamily="34" charset="-122"/>
                <a:cs typeface="Georgia" pitchFamily="34" charset="-120"/>
              </a:rPr>
              <a:t>5%</a:t>
            </a:r>
            <a:endParaRPr lang="en-US" sz="1400" dirty="0"/>
          </a:p>
        </p:txBody>
      </p:sp>
      <p:sp>
        <p:nvSpPr>
          <p:cNvPr id="27" name="Shape 25"/>
          <p:cNvSpPr/>
          <p:nvPr/>
        </p:nvSpPr>
        <p:spPr>
          <a:xfrm>
            <a:off x="6217920" y="1097280"/>
            <a:ext cx="2468880" cy="3017520"/>
          </a:xfrm>
          <a:prstGeom prst="rect">
            <a:avLst/>
          </a:prstGeom>
          <a:solidFill>
            <a:srgbClr val="2D6A4F"/>
          </a:solidFill>
          <a:ln/>
          <a:effectLst>
            <a:outerShdw sx="100000" sy="100000" kx="0" ky="0" algn="bl" rotWithShape="0" blurRad="101600" dist="38100" dir="8100000">
              <a:srgbClr val="000000">
                <a:alpha val="12000"/>
              </a:srgbClr>
            </a:outerShdw>
          </a:effectLst>
        </p:spPr>
        <p:txBody>
          <a:bodyPr/>
          <a:p/>
        </p:txBody>
      </p:sp>
      <p:sp>
        <p:nvSpPr>
          <p:cNvPr id="28" name="Text 26"/>
          <p:cNvSpPr/>
          <p:nvPr/>
        </p:nvSpPr>
        <p:spPr>
          <a:xfrm>
            <a:off x="6309360" y="1280160"/>
            <a:ext cx="2286000" cy="365760"/>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Cost Efficiency</a:t>
            </a:r>
            <a:endParaRPr lang="en-US" sz="1400" dirty="0"/>
          </a:p>
        </p:txBody>
      </p:sp>
      <p:sp>
        <p:nvSpPr>
          <p:cNvPr id="29" name="Text 27"/>
          <p:cNvSpPr/>
          <p:nvPr/>
        </p:nvSpPr>
        <p:spPr>
          <a:xfrm>
            <a:off x="6309360" y="1737360"/>
            <a:ext cx="2286000" cy="54864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$0.30</a:t>
            </a:r>
            <a:endParaRPr lang="en-US" sz="3600" dirty="0"/>
          </a:p>
        </p:txBody>
      </p:sp>
      <p:sp>
        <p:nvSpPr>
          <p:cNvPr id="30" name="Text 28"/>
          <p:cNvSpPr/>
          <p:nvPr/>
        </p:nvSpPr>
        <p:spPr>
          <a:xfrm>
            <a:off x="6309360" y="2286000"/>
            <a:ext cx="2286000" cy="54864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per farmer per year</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for SMS delivery</a:t>
            </a:r>
            <a:endParaRPr lang="en-US" sz="1100" dirty="0"/>
          </a:p>
        </p:txBody>
      </p:sp>
      <p:sp>
        <p:nvSpPr>
          <p:cNvPr id="31" name="Text 29"/>
          <p:cNvSpPr/>
          <p:nvPr/>
        </p:nvSpPr>
        <p:spPr>
          <a:xfrm>
            <a:off x="6309360" y="3017520"/>
            <a:ext cx="2286000" cy="9144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Freemium model:</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Basic alerts FREE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Premium features</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generate revenue</a:t>
            </a:r>
            <a:endParaRPr lang="en-US" sz="1100" dirty="0"/>
          </a:p>
        </p:txBody>
      </p:sp>
      <p:sp>
        <p:nvSpPr>
          <p:cNvPr id="32" name="Shape 30"/>
          <p:cNvSpPr/>
          <p:nvPr/>
        </p:nvSpPr>
        <p:spPr>
          <a:xfrm>
            <a:off x="457200" y="4297680"/>
            <a:ext cx="8229600" cy="731520"/>
          </a:xfrm>
          <a:prstGeom prst="rect">
            <a:avLst/>
          </a:prstGeom>
          <a:solidFill>
            <a:srgbClr val="1A1A2E"/>
          </a:solidFill>
          <a:ln/>
        </p:spPr>
        <p:txBody>
          <a:bodyPr/>
          <a:p/>
        </p:txBody>
      </p:sp>
      <p:sp>
        <p:nvSpPr>
          <p:cNvPr id="33" name="Text 31"/>
          <p:cNvSpPr/>
          <p:nvPr/>
        </p:nvSpPr>
        <p:spPr>
          <a:xfrm>
            <a:off x="640080" y="4389120"/>
            <a:ext cx="182880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Open Source Commitment</a:t>
            </a:r>
            <a:endParaRPr lang="en-US" sz="1200" dirty="0"/>
          </a:p>
        </p:txBody>
      </p:sp>
      <p:sp>
        <p:nvSpPr>
          <p:cNvPr id="34" name="Text 32"/>
          <p:cNvSpPr/>
          <p:nvPr/>
        </p:nvSpPr>
        <p:spPr>
          <a:xfrm>
            <a:off x="640080" y="4663440"/>
            <a:ext cx="7863840" cy="274320"/>
          </a:xfrm>
          <a:prstGeom prst="rect">
            <a:avLst/>
          </a:prstGeom>
          <a:noFill/>
          <a:ln/>
        </p:spPr>
        <p:txBody>
          <a:bodyPr wrap="square" rtlCol="0" anchor="ctr"/>
          <a:lstStyle/>
          <a:p>
            <a:pPr indent="0" marL="0">
              <a:buNone/>
            </a:pPr>
            <a:r>
              <a:rPr lang="en-US" sz="1100" dirty="0">
                <a:solidFill>
                  <a:srgbClr val="E7E8D1"/>
                </a:solidFill>
                <a:latin typeface="Calibri" pitchFamily="34" charset="0"/>
                <a:ea typeface="Calibri" pitchFamily="34" charset="-122"/>
                <a:cs typeface="Calibri" pitchFamily="34" charset="-120"/>
              </a:rPr>
              <a:t>Core algorithms on GitHub (MIT license)  •  Open access research publications  •  Replication toolkit for other regions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3600" b="1" dirty="0">
                <a:solidFill>
                  <a:srgbClr val="1A1A2E"/>
                </a:solidFill>
                <a:latin typeface="Georgia" pitchFamily="34" charset="0"/>
                <a:ea typeface="Georgia" pitchFamily="34" charset="-122"/>
                <a:cs typeface="Georgia" pitchFamily="34" charset="-120"/>
              </a:rPr>
              <a:t>Founder &amp; Partners</a:t>
            </a:r>
            <a:endParaRPr lang="en-US" sz="3600" dirty="0"/>
          </a:p>
        </p:txBody>
      </p:sp>
      <p:sp>
        <p:nvSpPr>
          <p:cNvPr id="3" name="Shape 1"/>
          <p:cNvSpPr/>
          <p:nvPr/>
        </p:nvSpPr>
        <p:spPr>
          <a:xfrm>
            <a:off x="457200" y="1005840"/>
            <a:ext cx="4114800" cy="2286000"/>
          </a:xfrm>
          <a:prstGeom prst="rect">
            <a:avLst/>
          </a:prstGeom>
          <a:solidFill>
            <a:srgbClr val="FFFFFF"/>
          </a:solidFill>
          <a:ln/>
          <a:effectLst>
            <a:outerShdw sx="100000" sy="100000" kx="0" ky="0" algn="bl" rotWithShape="0" blurRad="101600" dist="38100" dir="8100000">
              <a:srgbClr val="000000">
                <a:alpha val="12000"/>
              </a:srgbClr>
            </a:outerShdw>
          </a:effectLst>
        </p:spPr>
        <p:txBody>
          <a:bodyPr/>
          <a:p/>
        </p:txBody>
      </p:sp>
      <p:sp>
        <p:nvSpPr>
          <p:cNvPr id="4" name="Shape 2"/>
          <p:cNvSpPr/>
          <p:nvPr/>
        </p:nvSpPr>
        <p:spPr>
          <a:xfrm>
            <a:off x="457200" y="1005840"/>
            <a:ext cx="91440" cy="2286000"/>
          </a:xfrm>
          <a:prstGeom prst="rect">
            <a:avLst/>
          </a:prstGeom>
          <a:solidFill>
            <a:srgbClr val="B85042"/>
          </a:solidFill>
          <a:ln/>
        </p:spPr>
        <p:txBody>
          <a:bodyPr/>
          <a:p/>
        </p:txBody>
      </p:sp>
      <p:sp>
        <p:nvSpPr>
          <p:cNvPr id="5" name="Text 3"/>
          <p:cNvSpPr/>
          <p:nvPr/>
        </p:nvSpPr>
        <p:spPr>
          <a:xfrm>
            <a:off x="685800" y="1188720"/>
            <a:ext cx="3657600" cy="365760"/>
          </a:xfrm>
          <a:prstGeom prst="rect">
            <a:avLst/>
          </a:prstGeom>
          <a:noFill/>
          <a:ln/>
        </p:spPr>
        <p:txBody>
          <a:bodyPr wrap="square" rtlCol="0" anchor="ctr"/>
          <a:lstStyle/>
          <a:p>
            <a:pPr indent="0" marL="0">
              <a:buNone/>
            </a:pPr>
            <a:r>
              <a:rPr lang="en-US" sz="2000" b="1" dirty="0">
                <a:solidFill>
                  <a:srgbClr val="1A1A2E"/>
                </a:solidFill>
                <a:latin typeface="Georgia" pitchFamily="34" charset="0"/>
                <a:ea typeface="Georgia" pitchFamily="34" charset="-122"/>
                <a:cs typeface="Georgia" pitchFamily="34" charset="-120"/>
              </a:rPr>
              <a:t>Raymond Reuel Wayesu</a:t>
            </a:r>
            <a:endParaRPr lang="en-US" sz="2000" dirty="0"/>
          </a:p>
        </p:txBody>
      </p:sp>
      <p:sp>
        <p:nvSpPr>
          <p:cNvPr id="6" name="Text 4"/>
          <p:cNvSpPr/>
          <p:nvPr/>
        </p:nvSpPr>
        <p:spPr>
          <a:xfrm>
            <a:off x="685800" y="1554480"/>
            <a:ext cx="3657600" cy="274320"/>
          </a:xfrm>
          <a:prstGeom prst="rect">
            <a:avLst/>
          </a:prstGeom>
          <a:noFill/>
          <a:ln/>
        </p:spPr>
        <p:txBody>
          <a:bodyPr wrap="square" rtlCol="0" anchor="ctr"/>
          <a:lstStyle/>
          <a:p>
            <a:pPr indent="0" marL="0">
              <a:buNone/>
            </a:pPr>
            <a:r>
              <a:rPr lang="en-US" sz="1200" dirty="0">
                <a:solidFill>
                  <a:srgbClr val="B85042"/>
                </a:solidFill>
                <a:latin typeface="Calibri" pitchFamily="34" charset="0"/>
                <a:ea typeface="Calibri" pitchFamily="34" charset="-122"/>
                <a:cs typeface="Calibri" pitchFamily="34" charset="-120"/>
              </a:rPr>
              <a:t>Founder &amp; Lead Developer</a:t>
            </a:r>
            <a:endParaRPr lang="en-US" sz="1200" dirty="0"/>
          </a:p>
        </p:txBody>
      </p:sp>
      <p:sp>
        <p:nvSpPr>
          <p:cNvPr id="7" name="Text 5"/>
          <p:cNvSpPr/>
          <p:nvPr/>
        </p:nvSpPr>
        <p:spPr>
          <a:xfrm>
            <a:off x="685800" y="1920240"/>
            <a:ext cx="3657600" cy="1280160"/>
          </a:xfrm>
          <a:prstGeom prst="rect">
            <a:avLst/>
          </a:prstGeom>
          <a:noFill/>
          <a:ln/>
        </p:spPr>
        <p:txBody>
          <a:bodyPr wrap="square" rtlCol="0" anchor="ctr"/>
          <a:lstStyle/>
          <a:p>
            <a:pPr marL="342900" indent="-342900">
              <a:spcAft>
                <a:spcPts val="400"/>
              </a:spcAft>
              <a:buSzPct val="100000"/>
              <a:buChar char="•"/>
            </a:pPr>
            <a:r>
              <a:rPr lang="en-US" sz="1100" dirty="0">
                <a:solidFill>
                  <a:srgbClr val="666666"/>
                </a:solidFill>
                <a:latin typeface="Calibri" pitchFamily="34" charset="0"/>
                <a:ea typeface="Calibri" pitchFamily="34" charset="-122"/>
                <a:cs typeface="Calibri" pitchFamily="34" charset="-120"/>
              </a:rPr>
              <a:t>10+ years at Uganda Virus Research Institute</a:t>
            </a:r>
            <a:endParaRPr lang="en-US" sz="1100" dirty="0"/>
          </a:p>
          <a:p>
            <a:pPr marL="342900" indent="-342900">
              <a:spcAft>
                <a:spcPts val="400"/>
              </a:spcAft>
              <a:buSzPct val="100000"/>
              <a:buChar char="•"/>
            </a:pPr>
            <a:r>
              <a:rPr lang="en-US" sz="1100" dirty="0">
                <a:solidFill>
                  <a:srgbClr val="666666"/>
                </a:solidFill>
                <a:latin typeface="Calibri" pitchFamily="34" charset="0"/>
                <a:ea typeface="Calibri" pitchFamily="34" charset="-122"/>
                <a:cs typeface="Calibri" pitchFamily="34" charset="-120"/>
              </a:rPr>
              <a:t>MSc Statistics (Linköping University)</a:t>
            </a:r>
            <a:endParaRPr lang="en-US" sz="1100" dirty="0"/>
          </a:p>
          <a:p>
            <a:pPr marL="342900" indent="-342900">
              <a:spcAft>
                <a:spcPts val="400"/>
              </a:spcAft>
              <a:buSzPct val="100000"/>
              <a:buChar char="•"/>
            </a:pPr>
            <a:r>
              <a:rPr lang="en-US" sz="1100" dirty="0">
                <a:solidFill>
                  <a:srgbClr val="666666"/>
                </a:solidFill>
                <a:latin typeface="Calibri" pitchFamily="34" charset="0"/>
                <a:ea typeface="Calibri" pitchFamily="34" charset="-122"/>
                <a:cs typeface="Calibri" pitchFamily="34" charset="-120"/>
              </a:rPr>
              <a:t>PhD candidate: ML/Computer Vision</a:t>
            </a:r>
            <a:endParaRPr lang="en-US" sz="1100" dirty="0"/>
          </a:p>
          <a:p>
            <a:pPr marL="342900" indent="-342900">
              <a:spcAft>
                <a:spcPts val="400"/>
              </a:spcAft>
              <a:buSzPct val="100000"/>
              <a:buChar char="•"/>
            </a:pPr>
            <a:r>
              <a:rPr lang="en-US" sz="1100" dirty="0">
                <a:solidFill>
                  <a:srgbClr val="666666"/>
                </a:solidFill>
                <a:latin typeface="Calibri" pitchFamily="34" charset="0"/>
                <a:ea typeface="Calibri" pitchFamily="34" charset="-122"/>
                <a:cs typeface="Calibri" pitchFamily="34" charset="-120"/>
              </a:rPr>
              <a:t>Expertise: Bayesian methods, predictive analytics</a:t>
            </a:r>
            <a:endParaRPr lang="en-US" sz="1100" dirty="0"/>
          </a:p>
          <a:p>
            <a:pPr marL="342900" indent="-342900">
              <a:spcAft>
                <a:spcPts val="400"/>
              </a:spcAft>
              <a:buSzPct val="100000"/>
              <a:buChar char="•"/>
            </a:pPr>
            <a:r>
              <a:rPr lang="en-US" sz="1100" dirty="0">
                <a:solidFill>
                  <a:srgbClr val="666666"/>
                </a:solidFill>
                <a:latin typeface="Calibri" pitchFamily="34" charset="0"/>
                <a:ea typeface="Calibri" pitchFamily="34" charset="-122"/>
                <a:cs typeface="Calibri" pitchFamily="34" charset="-120"/>
              </a:rPr>
              <a:t>Built the entire HeatShield MVP</a:t>
            </a:r>
            <a:endParaRPr lang="en-US" sz="1100" dirty="0"/>
          </a:p>
        </p:txBody>
      </p:sp>
      <p:sp>
        <p:nvSpPr>
          <p:cNvPr id="8" name="Text 6"/>
          <p:cNvSpPr/>
          <p:nvPr/>
        </p:nvSpPr>
        <p:spPr>
          <a:xfrm>
            <a:off x="4754880" y="1005840"/>
            <a:ext cx="3931920" cy="365760"/>
          </a:xfrm>
          <a:prstGeom prst="rect">
            <a:avLst/>
          </a:prstGeom>
          <a:noFill/>
          <a:ln/>
        </p:spPr>
        <p:txBody>
          <a:bodyPr wrap="square" rtlCol="0" anchor="ctr"/>
          <a:lstStyle/>
          <a:p>
            <a:pPr indent="0" marL="0">
              <a:buNone/>
            </a:pPr>
            <a:r>
              <a:rPr lang="en-US" sz="1600" b="1" dirty="0">
                <a:solidFill>
                  <a:srgbClr val="1A1A2E"/>
                </a:solidFill>
                <a:latin typeface="Georgia" pitchFamily="34" charset="0"/>
                <a:ea typeface="Georgia" pitchFamily="34" charset="-122"/>
                <a:cs typeface="Georgia" pitchFamily="34" charset="-120"/>
              </a:rPr>
              <a:t>Strategic Partners</a:t>
            </a:r>
            <a:endParaRPr lang="en-US" sz="1600" dirty="0"/>
          </a:p>
        </p:txBody>
      </p:sp>
      <p:sp>
        <p:nvSpPr>
          <p:cNvPr id="9" name="Shape 7"/>
          <p:cNvSpPr/>
          <p:nvPr/>
        </p:nvSpPr>
        <p:spPr>
          <a:xfrm>
            <a:off x="4754880" y="1417320"/>
            <a:ext cx="3931920" cy="502920"/>
          </a:xfrm>
          <a:prstGeom prst="rect">
            <a:avLst/>
          </a:prstGeom>
          <a:solidFill>
            <a:srgbClr val="FFFFFF"/>
          </a:solidFill>
          <a:ln/>
        </p:spPr>
        <p:txBody>
          <a:bodyPr/>
          <a:p/>
        </p:txBody>
      </p:sp>
      <p:sp>
        <p:nvSpPr>
          <p:cNvPr id="10" name="Text 8"/>
          <p:cNvSpPr/>
          <p:nvPr/>
        </p:nvSpPr>
        <p:spPr>
          <a:xfrm>
            <a:off x="4892040" y="1508760"/>
            <a:ext cx="1645920" cy="320040"/>
          </a:xfrm>
          <a:prstGeom prst="rect">
            <a:avLst/>
          </a:prstGeom>
          <a:noFill/>
          <a:ln/>
        </p:spPr>
        <p:txBody>
          <a:bodyPr wrap="square" rtlCol="0" anchor="ctr"/>
          <a:lstStyle/>
          <a:p>
            <a:pPr indent="0" marL="0">
              <a:buNone/>
            </a:pPr>
            <a:r>
              <a:rPr lang="en-US" sz="1100" b="1" dirty="0">
                <a:solidFill>
                  <a:srgbClr val="2E5A8C"/>
                </a:solidFill>
                <a:latin typeface="Calibri" pitchFamily="34" charset="0"/>
                <a:ea typeface="Calibri" pitchFamily="34" charset="-122"/>
                <a:cs typeface="Calibri" pitchFamily="34" charset="-120"/>
              </a:rPr>
              <a:t>UNFFE</a:t>
            </a:r>
            <a:endParaRPr lang="en-US" sz="1100" dirty="0"/>
          </a:p>
        </p:txBody>
      </p:sp>
      <p:sp>
        <p:nvSpPr>
          <p:cNvPr id="11" name="Text 9"/>
          <p:cNvSpPr/>
          <p:nvPr/>
        </p:nvSpPr>
        <p:spPr>
          <a:xfrm>
            <a:off x="6583680" y="1508760"/>
            <a:ext cx="2011680" cy="32004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Farmer cooperative network</a:t>
            </a:r>
            <a:endParaRPr lang="en-US" sz="1000" dirty="0"/>
          </a:p>
        </p:txBody>
      </p:sp>
      <p:sp>
        <p:nvSpPr>
          <p:cNvPr id="12" name="Shape 10"/>
          <p:cNvSpPr/>
          <p:nvPr/>
        </p:nvSpPr>
        <p:spPr>
          <a:xfrm>
            <a:off x="4754880" y="1947672"/>
            <a:ext cx="3931920" cy="502920"/>
          </a:xfrm>
          <a:prstGeom prst="rect">
            <a:avLst/>
          </a:prstGeom>
          <a:solidFill>
            <a:srgbClr val="FFFFFF"/>
          </a:solidFill>
          <a:ln/>
        </p:spPr>
        <p:txBody>
          <a:bodyPr/>
          <a:p/>
        </p:txBody>
      </p:sp>
      <p:sp>
        <p:nvSpPr>
          <p:cNvPr id="13" name="Text 11"/>
          <p:cNvSpPr/>
          <p:nvPr/>
        </p:nvSpPr>
        <p:spPr>
          <a:xfrm>
            <a:off x="4892040" y="2039112"/>
            <a:ext cx="1645920" cy="320040"/>
          </a:xfrm>
          <a:prstGeom prst="rect">
            <a:avLst/>
          </a:prstGeom>
          <a:noFill/>
          <a:ln/>
        </p:spPr>
        <p:txBody>
          <a:bodyPr wrap="square" rtlCol="0" anchor="ctr"/>
          <a:lstStyle/>
          <a:p>
            <a:pPr indent="0" marL="0">
              <a:buNone/>
            </a:pPr>
            <a:r>
              <a:rPr lang="en-US" sz="1100" b="1" dirty="0">
                <a:solidFill>
                  <a:srgbClr val="2E5A8C"/>
                </a:solidFill>
                <a:latin typeface="Calibri" pitchFamily="34" charset="0"/>
                <a:ea typeface="Calibri" pitchFamily="34" charset="-122"/>
                <a:cs typeface="Calibri" pitchFamily="34" charset="-120"/>
              </a:rPr>
              <a:t>MAAIF</a:t>
            </a:r>
            <a:endParaRPr lang="en-US" sz="1100" dirty="0"/>
          </a:p>
        </p:txBody>
      </p:sp>
      <p:sp>
        <p:nvSpPr>
          <p:cNvPr id="14" name="Text 12"/>
          <p:cNvSpPr/>
          <p:nvPr/>
        </p:nvSpPr>
        <p:spPr>
          <a:xfrm>
            <a:off x="6583680" y="2039112"/>
            <a:ext cx="2011680" cy="32004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Extension worker network</a:t>
            </a:r>
            <a:endParaRPr lang="en-US" sz="1000" dirty="0"/>
          </a:p>
        </p:txBody>
      </p:sp>
      <p:sp>
        <p:nvSpPr>
          <p:cNvPr id="15" name="Shape 13"/>
          <p:cNvSpPr/>
          <p:nvPr/>
        </p:nvSpPr>
        <p:spPr>
          <a:xfrm>
            <a:off x="4754880" y="2478024"/>
            <a:ext cx="3931920" cy="502920"/>
          </a:xfrm>
          <a:prstGeom prst="rect">
            <a:avLst/>
          </a:prstGeom>
          <a:solidFill>
            <a:srgbClr val="FFFFFF"/>
          </a:solidFill>
          <a:ln/>
        </p:spPr>
        <p:txBody>
          <a:bodyPr/>
          <a:p/>
        </p:txBody>
      </p:sp>
      <p:sp>
        <p:nvSpPr>
          <p:cNvPr id="16" name="Text 14"/>
          <p:cNvSpPr/>
          <p:nvPr/>
        </p:nvSpPr>
        <p:spPr>
          <a:xfrm>
            <a:off x="4892040" y="2569464"/>
            <a:ext cx="1645920" cy="320040"/>
          </a:xfrm>
          <a:prstGeom prst="rect">
            <a:avLst/>
          </a:prstGeom>
          <a:noFill/>
          <a:ln/>
        </p:spPr>
        <p:txBody>
          <a:bodyPr wrap="square" rtlCol="0" anchor="ctr"/>
          <a:lstStyle/>
          <a:p>
            <a:pPr indent="0" marL="0">
              <a:buNone/>
            </a:pPr>
            <a:r>
              <a:rPr lang="en-US" sz="1100" b="1" dirty="0">
                <a:solidFill>
                  <a:srgbClr val="2E5A8C"/>
                </a:solidFill>
                <a:latin typeface="Calibri" pitchFamily="34" charset="0"/>
                <a:ea typeface="Calibri" pitchFamily="34" charset="-122"/>
                <a:cs typeface="Calibri" pitchFamily="34" charset="-120"/>
              </a:rPr>
              <a:t>Makerere University</a:t>
            </a:r>
            <a:endParaRPr lang="en-US" sz="1100" dirty="0"/>
          </a:p>
        </p:txBody>
      </p:sp>
      <p:sp>
        <p:nvSpPr>
          <p:cNvPr id="17" name="Text 15"/>
          <p:cNvSpPr/>
          <p:nvPr/>
        </p:nvSpPr>
        <p:spPr>
          <a:xfrm>
            <a:off x="6583680" y="2569464"/>
            <a:ext cx="2011680" cy="32004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Research &amp; evaluation</a:t>
            </a:r>
            <a:endParaRPr lang="en-US" sz="1000" dirty="0"/>
          </a:p>
        </p:txBody>
      </p:sp>
      <p:sp>
        <p:nvSpPr>
          <p:cNvPr id="18" name="Shape 16"/>
          <p:cNvSpPr/>
          <p:nvPr/>
        </p:nvSpPr>
        <p:spPr>
          <a:xfrm>
            <a:off x="4754880" y="3008376"/>
            <a:ext cx="3931920" cy="502920"/>
          </a:xfrm>
          <a:prstGeom prst="rect">
            <a:avLst/>
          </a:prstGeom>
          <a:solidFill>
            <a:srgbClr val="FFFFFF"/>
          </a:solidFill>
          <a:ln/>
        </p:spPr>
        <p:txBody>
          <a:bodyPr/>
          <a:p/>
        </p:txBody>
      </p:sp>
      <p:sp>
        <p:nvSpPr>
          <p:cNvPr id="19" name="Text 17"/>
          <p:cNvSpPr/>
          <p:nvPr/>
        </p:nvSpPr>
        <p:spPr>
          <a:xfrm>
            <a:off x="4892040" y="3099816"/>
            <a:ext cx="1645920" cy="320040"/>
          </a:xfrm>
          <a:prstGeom prst="rect">
            <a:avLst/>
          </a:prstGeom>
          <a:noFill/>
          <a:ln/>
        </p:spPr>
        <p:txBody>
          <a:bodyPr wrap="square" rtlCol="0" anchor="ctr"/>
          <a:lstStyle/>
          <a:p>
            <a:pPr indent="0" marL="0">
              <a:buNone/>
            </a:pPr>
            <a:r>
              <a:rPr lang="en-US" sz="1100" b="1" dirty="0">
                <a:solidFill>
                  <a:srgbClr val="2E5A8C"/>
                </a:solidFill>
                <a:latin typeface="Calibri" pitchFamily="34" charset="0"/>
                <a:ea typeface="Calibri" pitchFamily="34" charset="-122"/>
                <a:cs typeface="Calibri" pitchFamily="34" charset="-120"/>
              </a:rPr>
              <a:t>Africa's Talking</a:t>
            </a:r>
            <a:endParaRPr lang="en-US" sz="1100" dirty="0"/>
          </a:p>
        </p:txBody>
      </p:sp>
      <p:sp>
        <p:nvSpPr>
          <p:cNvPr id="20" name="Text 18"/>
          <p:cNvSpPr/>
          <p:nvPr/>
        </p:nvSpPr>
        <p:spPr>
          <a:xfrm>
            <a:off x="6583680" y="3099816"/>
            <a:ext cx="2011680" cy="32004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SMS/USSD infrastructure</a:t>
            </a:r>
            <a:endParaRPr lang="en-US" sz="1000" dirty="0"/>
          </a:p>
        </p:txBody>
      </p:sp>
      <p:sp>
        <p:nvSpPr>
          <p:cNvPr id="21" name="Shape 19"/>
          <p:cNvSpPr/>
          <p:nvPr/>
        </p:nvSpPr>
        <p:spPr>
          <a:xfrm>
            <a:off x="4754880" y="3538728"/>
            <a:ext cx="3931920" cy="502920"/>
          </a:xfrm>
          <a:prstGeom prst="rect">
            <a:avLst/>
          </a:prstGeom>
          <a:solidFill>
            <a:srgbClr val="FFFFFF"/>
          </a:solidFill>
          <a:ln/>
        </p:spPr>
        <p:txBody>
          <a:bodyPr/>
          <a:p/>
        </p:txBody>
      </p:sp>
      <p:sp>
        <p:nvSpPr>
          <p:cNvPr id="22" name="Text 20"/>
          <p:cNvSpPr/>
          <p:nvPr/>
        </p:nvSpPr>
        <p:spPr>
          <a:xfrm>
            <a:off x="4892040" y="3630168"/>
            <a:ext cx="1645920" cy="320040"/>
          </a:xfrm>
          <a:prstGeom prst="rect">
            <a:avLst/>
          </a:prstGeom>
          <a:noFill/>
          <a:ln/>
        </p:spPr>
        <p:txBody>
          <a:bodyPr wrap="square" rtlCol="0" anchor="ctr"/>
          <a:lstStyle/>
          <a:p>
            <a:pPr indent="0" marL="0">
              <a:buNone/>
            </a:pPr>
            <a:r>
              <a:rPr lang="en-US" sz="1100" b="1" dirty="0">
                <a:solidFill>
                  <a:srgbClr val="2E5A8C"/>
                </a:solidFill>
                <a:latin typeface="Calibri" pitchFamily="34" charset="0"/>
                <a:ea typeface="Calibri" pitchFamily="34" charset="-122"/>
                <a:cs typeface="Calibri" pitchFamily="34" charset="-120"/>
              </a:rPr>
              <a:t>ICPAC</a:t>
            </a:r>
            <a:endParaRPr lang="en-US" sz="1100" dirty="0"/>
          </a:p>
        </p:txBody>
      </p:sp>
      <p:sp>
        <p:nvSpPr>
          <p:cNvPr id="23" name="Text 21"/>
          <p:cNvSpPr/>
          <p:nvPr/>
        </p:nvSpPr>
        <p:spPr>
          <a:xfrm>
            <a:off x="6583680" y="3630168"/>
            <a:ext cx="2011680" cy="320040"/>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Regional climate forecasts</a:t>
            </a:r>
            <a:endParaRPr lang="en-US" sz="1000" dirty="0"/>
          </a:p>
        </p:txBody>
      </p:sp>
      <p:sp>
        <p:nvSpPr>
          <p:cNvPr id="24" name="Shape 22"/>
          <p:cNvSpPr/>
          <p:nvPr/>
        </p:nvSpPr>
        <p:spPr>
          <a:xfrm>
            <a:off x="457200" y="3474720"/>
            <a:ext cx="8229600" cy="1371600"/>
          </a:xfrm>
          <a:prstGeom prst="rect">
            <a:avLst/>
          </a:prstGeom>
          <a:solidFill>
            <a:srgbClr val="2E5A8C"/>
          </a:solidFill>
          <a:ln/>
        </p:spPr>
        <p:txBody>
          <a:bodyPr/>
          <a:p/>
        </p:txBody>
      </p:sp>
      <p:sp>
        <p:nvSpPr>
          <p:cNvPr id="25" name="Text 23"/>
          <p:cNvSpPr/>
          <p:nvPr/>
        </p:nvSpPr>
        <p:spPr>
          <a:xfrm>
            <a:off x="640080" y="3611880"/>
            <a:ext cx="7863840" cy="320040"/>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Why This Background Matters</a:t>
            </a:r>
            <a:endParaRPr lang="en-US" sz="1400" dirty="0"/>
          </a:p>
        </p:txBody>
      </p:sp>
      <p:sp>
        <p:nvSpPr>
          <p:cNvPr id="26" name="Text 24"/>
          <p:cNvSpPr/>
          <p:nvPr/>
        </p:nvSpPr>
        <p:spPr>
          <a:xfrm>
            <a:off x="640080" y="3977640"/>
            <a:ext cx="7863840" cy="7772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My biostatistics expertise enables rigorous impact measurement. My UVRI experience means deep understanding of health research in Uganda. My ML PhD work directly applies to building accurate prediction models. I've already proven execution capability by building a working MVP.</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The Ask</a:t>
            </a:r>
            <a:endParaRPr lang="en-US" sz="4400" dirty="0"/>
          </a:p>
        </p:txBody>
      </p:sp>
      <p:sp>
        <p:nvSpPr>
          <p:cNvPr id="3" name="Text 1"/>
          <p:cNvSpPr/>
          <p:nvPr/>
        </p:nvSpPr>
        <p:spPr>
          <a:xfrm>
            <a:off x="457200" y="1097280"/>
            <a:ext cx="8229600" cy="914400"/>
          </a:xfrm>
          <a:prstGeom prst="rect">
            <a:avLst/>
          </a:prstGeom>
          <a:noFill/>
          <a:ln/>
        </p:spPr>
        <p:txBody>
          <a:bodyPr wrap="square" rtlCol="0" anchor="ctr"/>
          <a:lstStyle/>
          <a:p>
            <a:pPr algn="ctr" indent="0" marL="0">
              <a:buNone/>
            </a:pPr>
            <a:r>
              <a:rPr lang="en-US" sz="7200" b="1" dirty="0">
                <a:solidFill>
                  <a:srgbClr val="B85042"/>
                </a:solidFill>
                <a:latin typeface="Georgia" pitchFamily="34" charset="0"/>
                <a:ea typeface="Georgia" pitchFamily="34" charset="-122"/>
                <a:cs typeface="Georgia" pitchFamily="34" charset="-120"/>
              </a:rPr>
              <a:t>$115,000</a:t>
            </a:r>
            <a:endParaRPr lang="en-US" sz="7200" dirty="0"/>
          </a:p>
        </p:txBody>
      </p:sp>
      <p:sp>
        <p:nvSpPr>
          <p:cNvPr id="4" name="Text 2"/>
          <p:cNvSpPr/>
          <p:nvPr/>
        </p:nvSpPr>
        <p:spPr>
          <a:xfrm>
            <a:off x="457200" y="2103120"/>
            <a:ext cx="8229600" cy="365760"/>
          </a:xfrm>
          <a:prstGeom prst="rect">
            <a:avLst/>
          </a:prstGeom>
          <a:noFill/>
          <a:ln/>
        </p:spPr>
        <p:txBody>
          <a:bodyPr wrap="square" rtlCol="0" anchor="ctr"/>
          <a:lstStyle/>
          <a:p>
            <a:pPr algn="ctr" indent="0" marL="0">
              <a:buNone/>
            </a:pPr>
            <a:r>
              <a:rPr lang="en-US" sz="1400" dirty="0">
                <a:solidFill>
                  <a:srgbClr val="E7E8D1"/>
                </a:solidFill>
                <a:latin typeface="Calibri" pitchFamily="34" charset="0"/>
                <a:ea typeface="Calibri" pitchFamily="34" charset="-122"/>
                <a:cs typeface="Calibri" pitchFamily="34" charset="-120"/>
              </a:rPr>
              <a:t>Budget Allocation</a:t>
            </a:r>
            <a:endParaRPr lang="en-US" sz="1400" dirty="0"/>
          </a:p>
        </p:txBody>
      </p:sp>
      <p:sp>
        <p:nvSpPr>
          <p:cNvPr id="5" name="Shape 3"/>
          <p:cNvSpPr/>
          <p:nvPr/>
        </p:nvSpPr>
        <p:spPr>
          <a:xfrm>
            <a:off x="457200" y="2560320"/>
            <a:ext cx="3328416" cy="822960"/>
          </a:xfrm>
          <a:prstGeom prst="rect">
            <a:avLst/>
          </a:prstGeom>
          <a:solidFill>
            <a:srgbClr val="B85042">
              <a:alpha val="61500"/>
            </a:srgbClr>
          </a:solidFill>
          <a:ln/>
        </p:spPr>
        <p:txBody>
          <a:bodyPr/>
          <a:p/>
        </p:txBody>
      </p:sp>
      <p:sp>
        <p:nvSpPr>
          <p:cNvPr id="6" name="Text 4"/>
          <p:cNvSpPr/>
          <p:nvPr/>
        </p:nvSpPr>
        <p:spPr>
          <a:xfrm>
            <a:off x="457200" y="2606040"/>
            <a:ext cx="3282696"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Personnel</a:t>
            </a:r>
            <a:endParaRPr lang="en-US" sz="1100" dirty="0"/>
          </a:p>
        </p:txBody>
      </p:sp>
      <p:sp>
        <p:nvSpPr>
          <p:cNvPr id="7" name="Text 5"/>
          <p:cNvSpPr/>
          <p:nvPr/>
        </p:nvSpPr>
        <p:spPr>
          <a:xfrm>
            <a:off x="457200" y="2880360"/>
            <a:ext cx="3282696" cy="228600"/>
          </a:xfrm>
          <a:prstGeom prst="rect">
            <a:avLst/>
          </a:prstGeom>
          <a:noFill/>
          <a:ln/>
        </p:spPr>
        <p:txBody>
          <a:bodyPr wrap="square" rtlCol="0" anchor="ctr"/>
          <a:lstStyle/>
          <a:p>
            <a:pPr algn="ctr" indent="0" marL="0">
              <a:buNone/>
            </a:pPr>
            <a:r>
              <a:rPr lang="en-US" sz="1200" dirty="0">
                <a:solidFill>
                  <a:srgbClr val="FFFFFF"/>
                </a:solidFill>
                <a:latin typeface="Georgia" pitchFamily="34" charset="0"/>
                <a:ea typeface="Georgia" pitchFamily="34" charset="-122"/>
                <a:cs typeface="Georgia" pitchFamily="34" charset="-120"/>
              </a:rPr>
              <a:t>$47,000</a:t>
            </a:r>
            <a:endParaRPr lang="en-US" sz="1200" dirty="0"/>
          </a:p>
        </p:txBody>
      </p:sp>
      <p:sp>
        <p:nvSpPr>
          <p:cNvPr id="8" name="Text 6"/>
          <p:cNvSpPr/>
          <p:nvPr/>
        </p:nvSpPr>
        <p:spPr>
          <a:xfrm>
            <a:off x="457200" y="3108960"/>
            <a:ext cx="3282696" cy="228600"/>
          </a:xfrm>
          <a:prstGeom prst="rect">
            <a:avLst/>
          </a:prstGeom>
          <a:noFill/>
          <a:ln/>
        </p:spPr>
        <p:txBody>
          <a:bodyPr wrap="square" rtlCol="0" anchor="ctr"/>
          <a:lstStyle/>
          <a:p>
            <a:pPr algn="ctr" indent="0" marL="0">
              <a:buNone/>
            </a:pPr>
            <a:r>
              <a:rPr lang="en-US" sz="1000" dirty="0">
                <a:solidFill>
                  <a:srgbClr val="E7E8D1"/>
                </a:solidFill>
                <a:latin typeface="Calibri" pitchFamily="34" charset="0"/>
                <a:ea typeface="Calibri" pitchFamily="34" charset="-122"/>
                <a:cs typeface="Calibri" pitchFamily="34" charset="-120"/>
              </a:rPr>
              <a:t>41%</a:t>
            </a:r>
            <a:endParaRPr lang="en-US" sz="1000" dirty="0"/>
          </a:p>
        </p:txBody>
      </p:sp>
      <p:sp>
        <p:nvSpPr>
          <p:cNvPr id="9" name="Shape 7"/>
          <p:cNvSpPr/>
          <p:nvPr/>
        </p:nvSpPr>
        <p:spPr>
          <a:xfrm>
            <a:off x="3831336" y="2560320"/>
            <a:ext cx="2176272" cy="822960"/>
          </a:xfrm>
          <a:prstGeom prst="rect">
            <a:avLst/>
          </a:prstGeom>
          <a:solidFill>
            <a:srgbClr val="B85042">
              <a:alpha val="40500"/>
            </a:srgbClr>
          </a:solidFill>
          <a:ln/>
        </p:spPr>
        <p:txBody>
          <a:bodyPr/>
          <a:p/>
        </p:txBody>
      </p:sp>
      <p:sp>
        <p:nvSpPr>
          <p:cNvPr id="10" name="Text 8"/>
          <p:cNvSpPr/>
          <p:nvPr/>
        </p:nvSpPr>
        <p:spPr>
          <a:xfrm>
            <a:off x="3831336" y="2606040"/>
            <a:ext cx="2130552"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Technology</a:t>
            </a:r>
            <a:endParaRPr lang="en-US" sz="1100" dirty="0"/>
          </a:p>
        </p:txBody>
      </p:sp>
      <p:sp>
        <p:nvSpPr>
          <p:cNvPr id="11" name="Text 9"/>
          <p:cNvSpPr/>
          <p:nvPr/>
        </p:nvSpPr>
        <p:spPr>
          <a:xfrm>
            <a:off x="3831336" y="2880360"/>
            <a:ext cx="2130552" cy="228600"/>
          </a:xfrm>
          <a:prstGeom prst="rect">
            <a:avLst/>
          </a:prstGeom>
          <a:noFill/>
          <a:ln/>
        </p:spPr>
        <p:txBody>
          <a:bodyPr wrap="square" rtlCol="0" anchor="ctr"/>
          <a:lstStyle/>
          <a:p>
            <a:pPr algn="ctr" indent="0" marL="0">
              <a:buNone/>
            </a:pPr>
            <a:r>
              <a:rPr lang="en-US" sz="1200" dirty="0">
                <a:solidFill>
                  <a:srgbClr val="FFFFFF"/>
                </a:solidFill>
                <a:latin typeface="Georgia" pitchFamily="34" charset="0"/>
                <a:ea typeface="Georgia" pitchFamily="34" charset="-122"/>
                <a:cs typeface="Georgia" pitchFamily="34" charset="-120"/>
              </a:rPr>
              <a:t>$31,000</a:t>
            </a:r>
            <a:endParaRPr lang="en-US" sz="1200" dirty="0"/>
          </a:p>
        </p:txBody>
      </p:sp>
      <p:sp>
        <p:nvSpPr>
          <p:cNvPr id="12" name="Text 10"/>
          <p:cNvSpPr/>
          <p:nvPr/>
        </p:nvSpPr>
        <p:spPr>
          <a:xfrm>
            <a:off x="3831336" y="3108960"/>
            <a:ext cx="2130552" cy="228600"/>
          </a:xfrm>
          <a:prstGeom prst="rect">
            <a:avLst/>
          </a:prstGeom>
          <a:noFill/>
          <a:ln/>
        </p:spPr>
        <p:txBody>
          <a:bodyPr wrap="square" rtlCol="0" anchor="ctr"/>
          <a:lstStyle/>
          <a:p>
            <a:pPr algn="ctr" indent="0" marL="0">
              <a:buNone/>
            </a:pPr>
            <a:r>
              <a:rPr lang="en-US" sz="1000" dirty="0">
                <a:solidFill>
                  <a:srgbClr val="E7E8D1"/>
                </a:solidFill>
                <a:latin typeface="Calibri" pitchFamily="34" charset="0"/>
                <a:ea typeface="Calibri" pitchFamily="34" charset="-122"/>
                <a:cs typeface="Calibri" pitchFamily="34" charset="-120"/>
              </a:rPr>
              <a:t>27%</a:t>
            </a:r>
            <a:endParaRPr lang="en-US" sz="1000" dirty="0"/>
          </a:p>
        </p:txBody>
      </p:sp>
      <p:sp>
        <p:nvSpPr>
          <p:cNvPr id="13" name="Shape 11"/>
          <p:cNvSpPr/>
          <p:nvPr/>
        </p:nvSpPr>
        <p:spPr>
          <a:xfrm>
            <a:off x="6053328" y="2560320"/>
            <a:ext cx="1517904" cy="822960"/>
          </a:xfrm>
          <a:prstGeom prst="rect">
            <a:avLst/>
          </a:prstGeom>
          <a:solidFill>
            <a:srgbClr val="B85042">
              <a:alpha val="28500"/>
            </a:srgbClr>
          </a:solidFill>
          <a:ln/>
        </p:spPr>
        <p:txBody>
          <a:bodyPr/>
          <a:p/>
        </p:txBody>
      </p:sp>
      <p:sp>
        <p:nvSpPr>
          <p:cNvPr id="14" name="Text 12"/>
          <p:cNvSpPr/>
          <p:nvPr/>
        </p:nvSpPr>
        <p:spPr>
          <a:xfrm>
            <a:off x="6053328" y="2606040"/>
            <a:ext cx="1472184"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Field Operations</a:t>
            </a:r>
            <a:endParaRPr lang="en-US" sz="1100" dirty="0"/>
          </a:p>
        </p:txBody>
      </p:sp>
      <p:sp>
        <p:nvSpPr>
          <p:cNvPr id="15" name="Text 13"/>
          <p:cNvSpPr/>
          <p:nvPr/>
        </p:nvSpPr>
        <p:spPr>
          <a:xfrm>
            <a:off x="6053328" y="2880360"/>
            <a:ext cx="1472184" cy="228600"/>
          </a:xfrm>
          <a:prstGeom prst="rect">
            <a:avLst/>
          </a:prstGeom>
          <a:noFill/>
          <a:ln/>
        </p:spPr>
        <p:txBody>
          <a:bodyPr wrap="square" rtlCol="0" anchor="ctr"/>
          <a:lstStyle/>
          <a:p>
            <a:pPr algn="ctr" indent="0" marL="0">
              <a:buNone/>
            </a:pPr>
            <a:r>
              <a:rPr lang="en-US" sz="1200" dirty="0">
                <a:solidFill>
                  <a:srgbClr val="FFFFFF"/>
                </a:solidFill>
                <a:latin typeface="Georgia" pitchFamily="34" charset="0"/>
                <a:ea typeface="Georgia" pitchFamily="34" charset="-122"/>
                <a:cs typeface="Georgia" pitchFamily="34" charset="-120"/>
              </a:rPr>
              <a:t>$22,000</a:t>
            </a:r>
            <a:endParaRPr lang="en-US" sz="1200" dirty="0"/>
          </a:p>
        </p:txBody>
      </p:sp>
      <p:sp>
        <p:nvSpPr>
          <p:cNvPr id="16" name="Text 14"/>
          <p:cNvSpPr/>
          <p:nvPr/>
        </p:nvSpPr>
        <p:spPr>
          <a:xfrm>
            <a:off x="6053328" y="3108960"/>
            <a:ext cx="1472184" cy="228600"/>
          </a:xfrm>
          <a:prstGeom prst="rect">
            <a:avLst/>
          </a:prstGeom>
          <a:noFill/>
          <a:ln/>
        </p:spPr>
        <p:txBody>
          <a:bodyPr wrap="square" rtlCol="0" anchor="ctr"/>
          <a:lstStyle/>
          <a:p>
            <a:pPr algn="ctr" indent="0" marL="0">
              <a:buNone/>
            </a:pPr>
            <a:r>
              <a:rPr lang="en-US" sz="1000" dirty="0">
                <a:solidFill>
                  <a:srgbClr val="E7E8D1"/>
                </a:solidFill>
                <a:latin typeface="Calibri" pitchFamily="34" charset="0"/>
                <a:ea typeface="Calibri" pitchFamily="34" charset="-122"/>
                <a:cs typeface="Calibri" pitchFamily="34" charset="-120"/>
              </a:rPr>
              <a:t>19%</a:t>
            </a:r>
            <a:endParaRPr lang="en-US" sz="1000" dirty="0"/>
          </a:p>
        </p:txBody>
      </p:sp>
      <p:sp>
        <p:nvSpPr>
          <p:cNvPr id="17" name="Shape 15"/>
          <p:cNvSpPr/>
          <p:nvPr/>
        </p:nvSpPr>
        <p:spPr>
          <a:xfrm>
            <a:off x="7616952" y="2560320"/>
            <a:ext cx="1024128" cy="822960"/>
          </a:xfrm>
          <a:prstGeom prst="rect">
            <a:avLst/>
          </a:prstGeom>
          <a:solidFill>
            <a:srgbClr val="B85042">
              <a:alpha val="19500"/>
            </a:srgbClr>
          </a:solidFill>
          <a:ln/>
        </p:spPr>
        <p:txBody>
          <a:bodyPr/>
          <a:p/>
        </p:txBody>
      </p:sp>
      <p:sp>
        <p:nvSpPr>
          <p:cNvPr id="18" name="Text 16"/>
          <p:cNvSpPr/>
          <p:nvPr/>
        </p:nvSpPr>
        <p:spPr>
          <a:xfrm>
            <a:off x="7616952" y="2606040"/>
            <a:ext cx="978408"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Other</a:t>
            </a:r>
            <a:endParaRPr lang="en-US" sz="1100" dirty="0"/>
          </a:p>
        </p:txBody>
      </p:sp>
      <p:sp>
        <p:nvSpPr>
          <p:cNvPr id="19" name="Text 17"/>
          <p:cNvSpPr/>
          <p:nvPr/>
        </p:nvSpPr>
        <p:spPr>
          <a:xfrm>
            <a:off x="7616952" y="2880360"/>
            <a:ext cx="978408" cy="228600"/>
          </a:xfrm>
          <a:prstGeom prst="rect">
            <a:avLst/>
          </a:prstGeom>
          <a:noFill/>
          <a:ln/>
        </p:spPr>
        <p:txBody>
          <a:bodyPr wrap="square" rtlCol="0" anchor="ctr"/>
          <a:lstStyle/>
          <a:p>
            <a:pPr algn="ctr" indent="0" marL="0">
              <a:buNone/>
            </a:pPr>
            <a:r>
              <a:rPr lang="en-US" sz="1200" dirty="0">
                <a:solidFill>
                  <a:srgbClr val="FFFFFF"/>
                </a:solidFill>
                <a:latin typeface="Georgia" pitchFamily="34" charset="0"/>
                <a:ea typeface="Georgia" pitchFamily="34" charset="-122"/>
                <a:cs typeface="Georgia" pitchFamily="34" charset="-120"/>
              </a:rPr>
              <a:t>$15,000</a:t>
            </a:r>
            <a:endParaRPr lang="en-US" sz="1200" dirty="0"/>
          </a:p>
        </p:txBody>
      </p:sp>
      <p:sp>
        <p:nvSpPr>
          <p:cNvPr id="20" name="Text 18"/>
          <p:cNvSpPr/>
          <p:nvPr/>
        </p:nvSpPr>
        <p:spPr>
          <a:xfrm>
            <a:off x="7616952" y="3108960"/>
            <a:ext cx="978408" cy="228600"/>
          </a:xfrm>
          <a:prstGeom prst="rect">
            <a:avLst/>
          </a:prstGeom>
          <a:noFill/>
          <a:ln/>
        </p:spPr>
        <p:txBody>
          <a:bodyPr wrap="square" rtlCol="0" anchor="ctr"/>
          <a:lstStyle/>
          <a:p>
            <a:pPr algn="ctr" indent="0" marL="0">
              <a:buNone/>
            </a:pPr>
            <a:r>
              <a:rPr lang="en-US" sz="1000" dirty="0">
                <a:solidFill>
                  <a:srgbClr val="E7E8D1"/>
                </a:solidFill>
                <a:latin typeface="Calibri" pitchFamily="34" charset="0"/>
                <a:ea typeface="Calibri" pitchFamily="34" charset="-122"/>
                <a:cs typeface="Calibri" pitchFamily="34" charset="-120"/>
              </a:rPr>
              <a:t>13%</a:t>
            </a:r>
            <a:endParaRPr lang="en-US" sz="1000" dirty="0"/>
          </a:p>
        </p:txBody>
      </p:sp>
      <p:sp>
        <p:nvSpPr>
          <p:cNvPr id="21" name="Text 19"/>
          <p:cNvSpPr/>
          <p:nvPr/>
        </p:nvSpPr>
        <p:spPr>
          <a:xfrm>
            <a:off x="457200" y="3657600"/>
            <a:ext cx="8229600" cy="36576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What We Deliver</a:t>
            </a:r>
            <a:endParaRPr lang="en-US" sz="1600" dirty="0"/>
          </a:p>
        </p:txBody>
      </p:sp>
      <p:sp>
        <p:nvSpPr>
          <p:cNvPr id="22" name="Text 20"/>
          <p:cNvSpPr/>
          <p:nvPr/>
        </p:nvSpPr>
        <p:spPr>
          <a:xfrm>
            <a:off x="457200" y="4069080"/>
            <a:ext cx="274320" cy="274320"/>
          </a:xfrm>
          <a:prstGeom prst="rect">
            <a:avLst/>
          </a:prstGeom>
          <a:noFill/>
          <a:ln/>
        </p:spPr>
        <p:txBody>
          <a:bodyPr wrap="square" rtlCol="0" anchor="ctr"/>
          <a:lstStyle/>
          <a:p>
            <a:pPr indent="0" marL="0">
              <a:buNone/>
            </a:pPr>
            <a:r>
              <a:rPr lang="en-US" sz="1400" b="1" dirty="0">
                <a:solidFill>
                  <a:srgbClr val="2D6A4F"/>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777240" y="4069080"/>
            <a:ext cx="7772400" cy="2743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10,000 farmers protected from heat stress</a:t>
            </a:r>
            <a:endParaRPr lang="en-US" sz="1300" dirty="0"/>
          </a:p>
        </p:txBody>
      </p:sp>
      <p:sp>
        <p:nvSpPr>
          <p:cNvPr id="24" name="Text 22"/>
          <p:cNvSpPr/>
          <p:nvPr/>
        </p:nvSpPr>
        <p:spPr>
          <a:xfrm>
            <a:off x="457200" y="4389120"/>
            <a:ext cx="274320" cy="274320"/>
          </a:xfrm>
          <a:prstGeom prst="rect">
            <a:avLst/>
          </a:prstGeom>
          <a:noFill/>
          <a:ln/>
        </p:spPr>
        <p:txBody>
          <a:bodyPr wrap="square" rtlCol="0" anchor="ctr"/>
          <a:lstStyle/>
          <a:p>
            <a:pPr indent="0" marL="0">
              <a:buNone/>
            </a:pPr>
            <a:r>
              <a:rPr lang="en-US" sz="1400" b="1" dirty="0">
                <a:solidFill>
                  <a:srgbClr val="2D6A4F"/>
                </a:solidFill>
                <a:latin typeface="Calibri" pitchFamily="34" charset="0"/>
                <a:ea typeface="Calibri" pitchFamily="34" charset="-122"/>
                <a:cs typeface="Calibri" pitchFamily="34" charset="-120"/>
              </a:rPr>
              <a:t>✓</a:t>
            </a:r>
            <a:endParaRPr lang="en-US" sz="1400" dirty="0"/>
          </a:p>
        </p:txBody>
      </p:sp>
      <p:sp>
        <p:nvSpPr>
          <p:cNvPr id="25" name="Text 23"/>
          <p:cNvSpPr/>
          <p:nvPr/>
        </p:nvSpPr>
        <p:spPr>
          <a:xfrm>
            <a:off x="777240" y="4389120"/>
            <a:ext cx="7772400" cy="2743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Validated impact data on behavior change &amp; health outcomes</a:t>
            </a:r>
            <a:endParaRPr lang="en-US" sz="1300" dirty="0"/>
          </a:p>
        </p:txBody>
      </p:sp>
      <p:sp>
        <p:nvSpPr>
          <p:cNvPr id="26" name="Text 24"/>
          <p:cNvSpPr/>
          <p:nvPr/>
        </p:nvSpPr>
        <p:spPr>
          <a:xfrm>
            <a:off x="457200" y="4709160"/>
            <a:ext cx="274320" cy="274320"/>
          </a:xfrm>
          <a:prstGeom prst="rect">
            <a:avLst/>
          </a:prstGeom>
          <a:noFill/>
          <a:ln/>
        </p:spPr>
        <p:txBody>
          <a:bodyPr wrap="square" rtlCol="0" anchor="ctr"/>
          <a:lstStyle/>
          <a:p>
            <a:pPr indent="0" marL="0">
              <a:buNone/>
            </a:pPr>
            <a:r>
              <a:rPr lang="en-US" sz="1400" b="1" dirty="0">
                <a:solidFill>
                  <a:srgbClr val="2D6A4F"/>
                </a:solidFill>
                <a:latin typeface="Calibri" pitchFamily="34" charset="0"/>
                <a:ea typeface="Calibri" pitchFamily="34" charset="-122"/>
                <a:cs typeface="Calibri" pitchFamily="34" charset="-120"/>
              </a:rPr>
              <a:t>✓</a:t>
            </a:r>
            <a:endParaRPr lang="en-US" sz="1400" dirty="0"/>
          </a:p>
        </p:txBody>
      </p:sp>
      <p:sp>
        <p:nvSpPr>
          <p:cNvPr id="27" name="Text 25"/>
          <p:cNvSpPr/>
          <p:nvPr/>
        </p:nvSpPr>
        <p:spPr>
          <a:xfrm>
            <a:off x="777240" y="4709160"/>
            <a:ext cx="7772400" cy="2743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Open-source toolkit for replication across East Africa</a:t>
            </a:r>
            <a:endParaRPr lang="en-US" sz="1300" dirty="0"/>
          </a:p>
        </p:txBody>
      </p:sp>
      <p:sp>
        <p:nvSpPr>
          <p:cNvPr id="28" name="Text 26"/>
          <p:cNvSpPr/>
          <p:nvPr/>
        </p:nvSpPr>
        <p:spPr>
          <a:xfrm>
            <a:off x="457200" y="5029200"/>
            <a:ext cx="274320" cy="274320"/>
          </a:xfrm>
          <a:prstGeom prst="rect">
            <a:avLst/>
          </a:prstGeom>
          <a:noFill/>
          <a:ln/>
        </p:spPr>
        <p:txBody>
          <a:bodyPr wrap="square" rtlCol="0" anchor="ctr"/>
          <a:lstStyle/>
          <a:p>
            <a:pPr indent="0" marL="0">
              <a:buNone/>
            </a:pPr>
            <a:r>
              <a:rPr lang="en-US" sz="1400" b="1" dirty="0">
                <a:solidFill>
                  <a:srgbClr val="2D6A4F"/>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777240" y="5029200"/>
            <a:ext cx="7772400" cy="2743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Scalable model reaching 100M+ agricultural workers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914400" y="2743200"/>
            <a:ext cx="3657600" cy="3657600"/>
          </a:xfrm>
          <a:prstGeom prst="ellipse">
            <a:avLst/>
          </a:prstGeom>
          <a:solidFill>
            <a:srgbClr val="9D0208">
              <a:alpha val="30000"/>
            </a:srgbClr>
          </a:solidFill>
          <a:ln/>
        </p:spPr>
        <p:txBody>
          <a:bodyPr/>
          <a:p/>
        </p:txBody>
      </p:sp>
      <p:sp>
        <p:nvSpPr>
          <p:cNvPr id="3" name="Shape 1"/>
          <p:cNvSpPr/>
          <p:nvPr/>
        </p:nvSpPr>
        <p:spPr>
          <a:xfrm>
            <a:off x="6400800" y="-914400"/>
            <a:ext cx="4572000" cy="4572000"/>
          </a:xfrm>
          <a:prstGeom prst="ellipse">
            <a:avLst/>
          </a:prstGeom>
          <a:solidFill>
            <a:srgbClr val="E85D04">
              <a:alpha val="30000"/>
            </a:srgbClr>
          </a:solidFill>
          <a:ln/>
        </p:spPr>
        <p:txBody>
          <a:bodyPr/>
          <a:p/>
        </p:txBody>
      </p:sp>
      <p:sp>
        <p:nvSpPr>
          <p:cNvPr id="4" name="Text 2"/>
          <p:cNvSpPr/>
          <p:nvPr/>
        </p:nvSpPr>
        <p:spPr>
          <a:xfrm>
            <a:off x="457200" y="1188720"/>
            <a:ext cx="8229600" cy="1280160"/>
          </a:xfrm>
          <a:prstGeom prst="rect">
            <a:avLst/>
          </a:prstGeom>
          <a:noFill/>
          <a:ln/>
        </p:spPr>
        <p:txBody>
          <a:bodyPr wrap="square" rtlCol="0" anchor="ctr"/>
          <a:lstStyle/>
          <a:p>
            <a:pPr algn="ctr" indent="0" marL="0">
              <a:lnSpc>
                <a:spcPts val="5000"/>
              </a:lnSpc>
              <a:buNone/>
            </a:pPr>
            <a:r>
              <a:rPr lang="en-US" sz="4000" b="1" dirty="0">
                <a:solidFill>
                  <a:srgbClr val="FFFFFF"/>
                </a:solidFill>
                <a:latin typeface="Georgia" pitchFamily="34" charset="0"/>
                <a:ea typeface="Georgia" pitchFamily="34" charset="-122"/>
                <a:cs typeface="Georgia" pitchFamily="34" charset="-120"/>
              </a:rPr>
              <a:t>Protecting Farmers</a:t>
            </a:r>
            <a:endParaRPr lang="en-US" sz="4000" dirty="0"/>
          </a:p>
          <a:p>
            <a:pPr algn="ctr" indent="0" marL="0">
              <a:lnSpc>
                <a:spcPts val="5000"/>
              </a:lnSpc>
              <a:buNone/>
            </a:pPr>
            <a:r>
              <a:rPr lang="en-US" sz="4000" b="1" dirty="0">
                <a:solidFill>
                  <a:srgbClr val="FFFFFF"/>
                </a:solidFill>
                <a:latin typeface="Georgia" pitchFamily="34" charset="0"/>
                <a:ea typeface="Georgia" pitchFamily="34" charset="-122"/>
                <a:cs typeface="Georgia" pitchFamily="34" charset="-120"/>
              </a:rPr>
              <a:t>from Dangerous Heat</a:t>
            </a:r>
            <a:endParaRPr lang="en-US" sz="4000" dirty="0"/>
          </a:p>
        </p:txBody>
      </p:sp>
      <p:sp>
        <p:nvSpPr>
          <p:cNvPr id="5" name="Text 3"/>
          <p:cNvSpPr/>
          <p:nvPr/>
        </p:nvSpPr>
        <p:spPr>
          <a:xfrm>
            <a:off x="457200" y="2651760"/>
            <a:ext cx="8229600" cy="457200"/>
          </a:xfrm>
          <a:prstGeom prst="rect">
            <a:avLst/>
          </a:prstGeom>
          <a:noFill/>
          <a:ln/>
        </p:spPr>
        <p:txBody>
          <a:bodyPr wrap="square" rtlCol="0" anchor="ctr"/>
          <a:lstStyle/>
          <a:p>
            <a:pPr algn="ctr" indent="0" marL="0">
              <a:buNone/>
            </a:pPr>
            <a:r>
              <a:rPr lang="en-US" sz="2000" i="1" dirty="0">
                <a:solidFill>
                  <a:srgbClr val="E7E8D1"/>
                </a:solidFill>
                <a:latin typeface="Calibri" pitchFamily="34" charset="0"/>
                <a:ea typeface="Calibri" pitchFamily="34" charset="-122"/>
                <a:cs typeface="Calibri" pitchFamily="34" charset="-120"/>
              </a:rPr>
              <a:t>AI-powered. Mobile-first. Life-saving.</a:t>
            </a:r>
            <a:endParaRPr lang="en-US" sz="2000" dirty="0"/>
          </a:p>
        </p:txBody>
      </p:sp>
      <p:sp>
        <p:nvSpPr>
          <p:cNvPr id="6" name="Shape 4"/>
          <p:cNvSpPr/>
          <p:nvPr/>
        </p:nvSpPr>
        <p:spPr>
          <a:xfrm>
            <a:off x="2286000" y="3383280"/>
            <a:ext cx="4572000" cy="1280160"/>
          </a:xfrm>
          <a:prstGeom prst="rect">
            <a:avLst/>
          </a:prstGeom>
          <a:solidFill>
            <a:srgbClr val="FFFFFF"/>
          </a:solidFill>
          <a:ln/>
          <a:effectLst>
            <a:outerShdw sx="100000" sy="100000" kx="0" ky="0" algn="bl" rotWithShape="0" blurRad="101600" dist="38100" dir="8100000">
              <a:srgbClr val="000000">
                <a:alpha val="12000"/>
              </a:srgbClr>
            </a:outerShdw>
          </a:effectLst>
        </p:spPr>
        <p:txBody>
          <a:bodyPr/>
          <a:p/>
        </p:txBody>
      </p:sp>
      <p:sp>
        <p:nvSpPr>
          <p:cNvPr id="7" name="Text 5"/>
          <p:cNvSpPr/>
          <p:nvPr/>
        </p:nvSpPr>
        <p:spPr>
          <a:xfrm>
            <a:off x="2286000" y="3520440"/>
            <a:ext cx="4572000" cy="365760"/>
          </a:xfrm>
          <a:prstGeom prst="rect">
            <a:avLst/>
          </a:prstGeom>
          <a:noFill/>
          <a:ln/>
        </p:spPr>
        <p:txBody>
          <a:bodyPr wrap="square" rtlCol="0" anchor="ctr"/>
          <a:lstStyle/>
          <a:p>
            <a:pPr algn="ctr" indent="0" marL="0">
              <a:buNone/>
            </a:pPr>
            <a:r>
              <a:rPr lang="en-US" sz="1800" b="1" dirty="0">
                <a:solidFill>
                  <a:srgbClr val="1A1A2E"/>
                </a:solidFill>
                <a:latin typeface="Georgia" pitchFamily="34" charset="0"/>
                <a:ea typeface="Georgia" pitchFamily="34" charset="-122"/>
                <a:cs typeface="Georgia" pitchFamily="34" charset="-120"/>
              </a:rPr>
              <a:t>Raymond Reuel Wayesu</a:t>
            </a:r>
            <a:endParaRPr lang="en-US" sz="1800" dirty="0"/>
          </a:p>
        </p:txBody>
      </p:sp>
      <p:sp>
        <p:nvSpPr>
          <p:cNvPr id="8" name="Text 6"/>
          <p:cNvSpPr/>
          <p:nvPr/>
        </p:nvSpPr>
        <p:spPr>
          <a:xfrm>
            <a:off x="2286000" y="3931920"/>
            <a:ext cx="4572000" cy="320040"/>
          </a:xfrm>
          <a:prstGeom prst="rect">
            <a:avLst/>
          </a:prstGeom>
          <a:noFill/>
          <a:ln/>
        </p:spPr>
        <p:txBody>
          <a:bodyPr wrap="square" rtlCol="0" anchor="ctr"/>
          <a:lstStyle/>
          <a:p>
            <a:pPr algn="ctr" indent="0" marL="0">
              <a:buNone/>
            </a:pPr>
            <a:r>
              <a:rPr lang="en-US" sz="1400" dirty="0">
                <a:solidFill>
                  <a:srgbClr val="2E5A8C"/>
                </a:solidFill>
                <a:latin typeface="Calibri" pitchFamily="34" charset="0"/>
                <a:ea typeface="Calibri" pitchFamily="34" charset="-122"/>
                <a:cs typeface="Calibri" pitchFamily="34" charset="-120"/>
              </a:rPr>
              <a:t>heatshieldagri.vercel.app</a:t>
            </a:r>
            <a:endParaRPr lang="en-US" sz="1400" dirty="0"/>
          </a:p>
        </p:txBody>
      </p:sp>
      <p:sp>
        <p:nvSpPr>
          <p:cNvPr id="9" name="Text 7"/>
          <p:cNvSpPr/>
          <p:nvPr/>
        </p:nvSpPr>
        <p:spPr>
          <a:xfrm>
            <a:off x="2286000" y="4251960"/>
            <a:ext cx="4572000" cy="27432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Wayesu Community Research Organisation Ltd  •  Uganda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HeatShield Agri - Activate AI Challenge Finalist Pitch</dc:title>
  <dc:subject>PptxGenJS Presentation</dc:subject>
  <dc:creator>Raymond Wayesu</dc:creator>
  <cp:lastModifiedBy>Raymond Wayesu</cp:lastModifiedBy>
  <cp:revision>1</cp:revision>
  <dcterms:created xsi:type="dcterms:W3CDTF">2026-02-28T18:38:59Z</dcterms:created>
  <dcterms:modified xsi:type="dcterms:W3CDTF">2026-02-28T18:38:59Z</dcterms:modified>
</cp:coreProperties>
</file>